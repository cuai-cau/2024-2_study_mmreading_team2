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8" r:id="rId3"/>
    <p:sldId id="257" r:id="rId4"/>
    <p:sldId id="273" r:id="rId5"/>
    <p:sldId id="260" r:id="rId6"/>
    <p:sldId id="281" r:id="rId7"/>
    <p:sldId id="274" r:id="rId8"/>
    <p:sldId id="272" r:id="rId9"/>
    <p:sldId id="277" r:id="rId10"/>
    <p:sldId id="280" r:id="rId11"/>
    <p:sldId id="286" r:id="rId12"/>
    <p:sldId id="283" r:id="rId13"/>
    <p:sldId id="282" r:id="rId14"/>
    <p:sldId id="284" r:id="rId15"/>
    <p:sldId id="285" r:id="rId16"/>
    <p:sldId id="287" r:id="rId17"/>
    <p:sldId id="26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96C5F-B2B4-494F-BBAB-7D1097458D51}" v="1" dt="2024-03-10T15:44:37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86424" autoAdjust="0"/>
  </p:normalViewPr>
  <p:slideViewPr>
    <p:cSldViewPr snapToGrid="0">
      <p:cViewPr varScale="1">
        <p:scale>
          <a:sx n="79" d="100"/>
          <a:sy n="79" d="100"/>
        </p:scale>
        <p:origin x="820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석 정" userId="3ac9b6dff2e83d1a" providerId="LiveId" clId="{78296C5F-B2B4-494F-BBAB-7D1097458D51}"/>
    <pc:docChg chg="undo custSel modSld">
      <pc:chgData name="현석 정" userId="3ac9b6dff2e83d1a" providerId="LiveId" clId="{78296C5F-B2B4-494F-BBAB-7D1097458D51}" dt="2024-03-10T15:44:49.431" v="36" actId="404"/>
      <pc:docMkLst>
        <pc:docMk/>
      </pc:docMkLst>
      <pc:sldChg chg="addSp modSp mod">
        <pc:chgData name="현석 정" userId="3ac9b6dff2e83d1a" providerId="LiveId" clId="{78296C5F-B2B4-494F-BBAB-7D1097458D51}" dt="2024-03-10T15:44:49.431" v="36" actId="404"/>
        <pc:sldMkLst>
          <pc:docMk/>
          <pc:sldMk cId="1691559823" sldId="268"/>
        </pc:sldMkLst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2" creationId="{5DF26E75-9D9C-CB57-D418-55EDC2A03C1B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4" creationId="{713FF4C8-4331-5DF3-04BC-0C51389719BE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8" creationId="{6A024E1D-18CC-8CE0-972B-03827F288D4C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9" creationId="{80CA86B9-A262-78AD-2705-45DAC7BFF76E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0" creationId="{E4A00517-2D80-7D76-D545-FA14530B9CF6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1" creationId="{B2B78C1C-5AC3-941D-E5D7-EA29A3E67153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2" creationId="{B426355C-4C78-1226-CEAA-D90652FC01E3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3" creationId="{4BABBA0C-132D-8E1A-E0B4-D617D23F1D89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4" creationId="{1EF86140-1402-CC3C-3660-A326176DBDB9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5" creationId="{A3FB567F-1B61-7F87-586D-CA9652B56317}"/>
          </ac:spMkLst>
        </pc:spChg>
        <pc:spChg chg="mod">
          <ac:chgData name="현석 정" userId="3ac9b6dff2e83d1a" providerId="LiveId" clId="{78296C5F-B2B4-494F-BBAB-7D1097458D51}" dt="2024-03-10T15:44:37.134" v="10" actId="164"/>
          <ac:spMkLst>
            <pc:docMk/>
            <pc:sldMk cId="1691559823" sldId="268"/>
            <ac:spMk id="16" creationId="{3E86BCA5-3B59-9FEA-71FB-E812316A3866}"/>
          </ac:spMkLst>
        </pc:spChg>
        <pc:spChg chg="mod">
          <ac:chgData name="현석 정" userId="3ac9b6dff2e83d1a" providerId="LiveId" clId="{78296C5F-B2B4-494F-BBAB-7D1097458D51}" dt="2024-03-10T15:44:49.431" v="36" actId="404"/>
          <ac:spMkLst>
            <pc:docMk/>
            <pc:sldMk cId="1691559823" sldId="268"/>
            <ac:spMk id="18" creationId="{78236A10-4AFA-7975-1452-934557310FE8}"/>
          </ac:spMkLst>
        </pc:spChg>
        <pc:grpChg chg="add mod">
          <ac:chgData name="현석 정" userId="3ac9b6dff2e83d1a" providerId="LiveId" clId="{78296C5F-B2B4-494F-BBAB-7D1097458D51}" dt="2024-03-10T15:44:40.333" v="34" actId="1036"/>
          <ac:grpSpMkLst>
            <pc:docMk/>
            <pc:sldMk cId="1691559823" sldId="268"/>
            <ac:grpSpMk id="19" creationId="{3783B6E2-BBAE-7712-CFF5-6921C4CBBDA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 panose="020D0604000000000000" pitchFamily="50" charset="-127"/>
        <a:ea typeface="나눔고딕" panose="020D0604000000000000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1642230-78A3-8719-7731-E2496DB8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33C4A5A-E313-F048-F109-EEBC7C258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D8A5069-6E44-5356-DAD6-DD40AFA45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2067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563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1A37ECD-3F13-FDEE-3877-8A6C9D7E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CA2E314-A4D5-21F3-03E8-CF41E9DF2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0D1BFA8E-F970-4633-7243-456692353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4121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8946F31-0D19-7DF7-C8F8-71721CA1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FF793B9-FE32-799C-5421-BD4EB4076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EF56971-6B70-4475-19EA-48D5D4B6C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6785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8291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E434A2E-0050-B79B-1144-39077B35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3CFD587-C5A0-DCB2-E638-FE65B431C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C4099DD2-EA15-EC96-53F3-2C0111825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1915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2B68454-565F-3C17-1705-5CDAE4FC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2ECF712-F5AE-5416-95F6-B137949AA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3AFC22A-52D0-C66C-EF57-403BFE9FF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7826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13D249E-0121-EF16-B3E7-5D39408E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F228E2B-6646-E05A-6A79-82E53C81C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B45BDD1C-8DDC-8172-8C23-448A46252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4918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8BBF8DB-95D1-A19F-999F-1EC7C188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14FB517-E508-65E8-1BC6-AF293531A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8D55625-4789-7E7A-B153-6DFEB6E8B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118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14A02DE-89D2-82C4-7BAA-BB7554E1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C648BA2-D7C2-B915-FAE9-C3AAC3E29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968F1B8-E760-AB70-DF24-7232F645C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447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9F021BE-7E65-2976-FD67-8F91ECE8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BAD5900-61FA-7242-E01C-0D8B25A7A3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4CDEF8C-4CA6-9A75-5BF0-874B06C0F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250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F51D4A5-4B84-40FB-2B36-01583BA0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11FBEB1-7BD3-5AC1-CAEE-9168BC33E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908F4EB-A66E-F483-8658-09325188A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2899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18285C5-577B-AB64-691C-171B1DCF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12F8248-1114-886E-D9F4-532D612A0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2F22275-7E6E-A935-5670-0F677668A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753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98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 리뷰</a:t>
            </a:r>
            <a:r>
              <a:rPr lang="en-US" alt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MM 2</a:t>
            </a:r>
            <a:r>
              <a:rPr 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endParaRPr sz="2500" b="1"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4.11.05</a:t>
            </a:r>
            <a:endParaRPr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 :</a:t>
            </a:r>
            <a:r>
              <a:rPr lang="en-US" altLang="ko" sz="1100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오재환</a:t>
            </a:r>
            <a:endParaRPr sz="1100" b="1"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429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+mj-ea"/>
                <a:ea typeface="+mj-ea"/>
                <a:cs typeface="NanumGothic ExtraBold"/>
                <a:sym typeface="NanumGothic ExtraBold"/>
              </a:rPr>
              <a:t>목차</a:t>
            </a:r>
            <a:endParaRPr lang="en-US" altLang="ko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+mj-ea"/>
                <a:ea typeface="+mj-ea"/>
              </a:rPr>
              <a:t>1. </a:t>
            </a:r>
            <a:r>
              <a:rPr lang="ko-KR" altLang="en-US" sz="2000" b="1" dirty="0">
                <a:latin typeface="+mj-ea"/>
                <a:ea typeface="+mj-ea"/>
              </a:rPr>
              <a:t>스터디 현황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1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+mj-ea"/>
                <a:ea typeface="+mj-ea"/>
              </a:rPr>
              <a:t>2. GLIP </a:t>
            </a:r>
            <a:r>
              <a:rPr lang="ko-KR" altLang="en-US" sz="2000" b="1" dirty="0">
                <a:latin typeface="+mj-ea"/>
                <a:ea typeface="+mj-ea"/>
              </a:rPr>
              <a:t>논문 리뷰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+mj-ea"/>
                <a:ea typeface="+mj-ea"/>
                <a:cs typeface="NanumGothic ExtraBold"/>
                <a:sym typeface="NanumGothic ExtraBold"/>
              </a:rPr>
              <a:t>스터디원 소개 및 만남 인증</a:t>
            </a:r>
            <a:endParaRPr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091643" y="1584420"/>
            <a:ext cx="2714478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j-ea"/>
                <a:ea typeface="+mj-ea"/>
              </a:rPr>
              <a:t>스터디원 1 : </a:t>
            </a:r>
            <a:r>
              <a:rPr lang="ko-KR" altLang="en-US" b="1" dirty="0">
                <a:latin typeface="+mj-ea"/>
                <a:ea typeface="+mj-ea"/>
              </a:rPr>
              <a:t>문주일</a:t>
            </a:r>
            <a:endParaRPr b="1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j-ea"/>
                <a:ea typeface="+mj-ea"/>
              </a:rPr>
              <a:t>스터디원 2 :</a:t>
            </a:r>
            <a:r>
              <a:rPr lang="en-US" altLang="ko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오재환</a:t>
            </a:r>
            <a:endParaRPr lang="en-US" altLang="ko-KR" b="1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+mj-ea"/>
                <a:ea typeface="+mj-ea"/>
              </a:rPr>
              <a:t>스터디원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 : </a:t>
            </a:r>
            <a:r>
              <a:rPr lang="ko-KR" altLang="en-US" b="1" dirty="0">
                <a:latin typeface="+mj-ea"/>
                <a:ea typeface="+mj-ea"/>
              </a:rPr>
              <a:t>이혜원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E34972DE-C741-61EC-BC19-D10429E258F3}"/>
              </a:ext>
            </a:extLst>
          </p:cNvPr>
          <p:cNvSpPr txBox="1"/>
          <p:nvPr/>
        </p:nvSpPr>
        <p:spPr>
          <a:xfrm>
            <a:off x="2106367" y="2738582"/>
            <a:ext cx="327336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latin typeface="+mj-ea"/>
                <a:ea typeface="+mj-ea"/>
              </a:rPr>
              <a:t>화요일 </a:t>
            </a:r>
            <a:r>
              <a:rPr lang="en-US" altLang="ko-KR" sz="1800" b="1" dirty="0">
                <a:latin typeface="+mj-ea"/>
                <a:ea typeface="+mj-ea"/>
              </a:rPr>
              <a:t>17:00 </a:t>
            </a:r>
            <a:r>
              <a:rPr lang="ko-KR" altLang="en-US" sz="1800" b="1" dirty="0">
                <a:latin typeface="+mj-ea"/>
                <a:ea typeface="+mj-ea"/>
              </a:rPr>
              <a:t>대면으로 진행</a:t>
            </a:r>
            <a:endParaRPr sz="1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50B262C-B9BA-879E-6F9A-B40AEDAF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C565BA4-58B5-5A0F-A9AA-5815C1CB386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0632990-156A-C226-962A-6BFA763FFB3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CC585F9A-E3C9-ED6D-901B-970FDC1A07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CCB0BD7A-E594-822A-5CE0-282A4F00070A}"/>
              </a:ext>
            </a:extLst>
          </p:cNvPr>
          <p:cNvSpPr txBox="1"/>
          <p:nvPr/>
        </p:nvSpPr>
        <p:spPr>
          <a:xfrm>
            <a:off x="1408975" y="306875"/>
            <a:ext cx="4979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+mj-ea"/>
                <a:ea typeface="+mj-ea"/>
              </a:rPr>
              <a:t>1. </a:t>
            </a:r>
            <a:r>
              <a:rPr lang="ko-KR" altLang="en-US" sz="2000" b="1" dirty="0">
                <a:latin typeface="+mj-ea"/>
                <a:ea typeface="+mj-ea"/>
              </a:rPr>
              <a:t>스터디 현황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F9FE7648-23AD-ACC9-499A-38770378085C}"/>
              </a:ext>
            </a:extLst>
          </p:cNvPr>
          <p:cNvSpPr txBox="1"/>
          <p:nvPr/>
        </p:nvSpPr>
        <p:spPr>
          <a:xfrm>
            <a:off x="1408975" y="2142962"/>
            <a:ext cx="7451804" cy="1415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latin typeface="+mj-ea"/>
                <a:ea typeface="+mj-ea"/>
              </a:rPr>
              <a:t>스터디 형식 변화</a:t>
            </a:r>
            <a:r>
              <a:rPr lang="en-US" altLang="ko-KR" sz="1600" b="1" dirty="0">
                <a:latin typeface="+mj-ea"/>
                <a:ea typeface="+mj-ea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600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 err="1">
                <a:latin typeface="+mj-ea"/>
                <a:ea typeface="+mj-ea"/>
              </a:rPr>
              <a:t>스터디원별로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latin typeface="+mj-ea"/>
                <a:ea typeface="+mj-ea"/>
              </a:rPr>
              <a:t>논문 </a:t>
            </a:r>
            <a:r>
              <a:rPr lang="ko-KR" altLang="en-US" sz="1600" b="1" u="sng" dirty="0">
                <a:latin typeface="+mj-ea"/>
                <a:ea typeface="+mj-ea"/>
              </a:rPr>
              <a:t>각자 </a:t>
            </a:r>
            <a:r>
              <a:rPr lang="en-US" altLang="ko-KR" sz="1600" b="1" u="sng" dirty="0">
                <a:latin typeface="+mj-ea"/>
                <a:ea typeface="+mj-ea"/>
              </a:rPr>
              <a:t>1</a:t>
            </a:r>
            <a:r>
              <a:rPr lang="ko-KR" altLang="en-US" sz="1600" b="1" u="sng" dirty="0">
                <a:latin typeface="+mj-ea"/>
                <a:ea typeface="+mj-ea"/>
              </a:rPr>
              <a:t>개씩</a:t>
            </a:r>
            <a:r>
              <a:rPr lang="ko-KR" altLang="en-US" sz="1600" b="1" dirty="0">
                <a:latin typeface="+mj-ea"/>
                <a:ea typeface="+mj-ea"/>
              </a:rPr>
              <a:t> 선정</a:t>
            </a:r>
            <a:r>
              <a:rPr lang="ko-KR" altLang="en-US" sz="1600" dirty="0">
                <a:latin typeface="+mj-ea"/>
                <a:ea typeface="+mj-ea"/>
              </a:rPr>
              <a:t>하여 대면만남에서 발표하는 형식</a:t>
            </a:r>
            <a:endParaRPr lang="en-US" altLang="ko-KR" sz="1600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600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latin typeface="+mj-ea"/>
                <a:ea typeface="+mj-ea"/>
              </a:rPr>
              <a:t>👉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다양한 도메인의 </a:t>
            </a:r>
            <a:r>
              <a:rPr lang="ko-KR" altLang="en-US" sz="1600" dirty="0" err="1">
                <a:latin typeface="+mj-ea"/>
                <a:ea typeface="+mj-ea"/>
              </a:rPr>
              <a:t>멀티모달</a:t>
            </a:r>
            <a:r>
              <a:rPr lang="ko-KR" altLang="en-US" sz="1600" dirty="0">
                <a:latin typeface="+mj-ea"/>
                <a:ea typeface="+mj-ea"/>
              </a:rPr>
              <a:t> 논문 리뷰 가능할 것으로 기대</a:t>
            </a:r>
          </a:p>
        </p:txBody>
      </p:sp>
    </p:spTree>
    <p:extLst>
      <p:ext uri="{BB962C8B-B14F-4D97-AF65-F5344CB8AC3E}">
        <p14:creationId xmlns:p14="http://schemas.microsoft.com/office/powerpoint/2010/main" val="8836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441A8AF-59A1-2B30-48A9-5D6164FB5C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r="8225"/>
          <a:stretch/>
        </p:blipFill>
        <p:spPr>
          <a:xfrm>
            <a:off x="2161231" y="702121"/>
            <a:ext cx="5713002" cy="3471138"/>
          </a:xfrm>
          <a:prstGeom prst="rect">
            <a:avLst/>
          </a:prstGeom>
        </p:spPr>
      </p:pic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B9178C12-D29B-9AE9-CBC5-B3DDA5B0BCB8}"/>
              </a:ext>
            </a:extLst>
          </p:cNvPr>
          <p:cNvSpPr txBox="1"/>
          <p:nvPr/>
        </p:nvSpPr>
        <p:spPr>
          <a:xfrm>
            <a:off x="1408975" y="306875"/>
            <a:ext cx="4979400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+mj-ea"/>
                <a:ea typeface="+mj-ea"/>
              </a:rPr>
              <a:t>2. GLIP </a:t>
            </a:r>
            <a:r>
              <a:rPr lang="ko-KR" altLang="en-US" sz="2000" b="1" dirty="0">
                <a:latin typeface="+mj-ea"/>
                <a:ea typeface="+mj-ea"/>
              </a:rPr>
              <a:t>논문 리뷰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0598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70C502B-E161-F9B2-BEB0-D654D2E0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C153A83-2FCB-E59E-FB53-4C205C951A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8225"/>
          <a:stretch/>
        </p:blipFill>
        <p:spPr>
          <a:xfrm>
            <a:off x="2161231" y="702121"/>
            <a:ext cx="5713002" cy="3471138"/>
          </a:xfrm>
          <a:prstGeom prst="rect">
            <a:avLst/>
          </a:prstGeom>
        </p:spPr>
      </p:pic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70191ED-54AF-826A-AB44-E5719BC152D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1F4D58A-B170-9FD1-07D1-A44D5B02442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81F36E5-17A6-B5B7-5A37-9DA4329F503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25BD8F94-ED39-FFCB-1967-94A0D5AF5D69}"/>
              </a:ext>
            </a:extLst>
          </p:cNvPr>
          <p:cNvSpPr txBox="1"/>
          <p:nvPr/>
        </p:nvSpPr>
        <p:spPr>
          <a:xfrm>
            <a:off x="1367862" y="4173259"/>
            <a:ext cx="631082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latin typeface="+mn-ea"/>
                <a:ea typeface="+mn-ea"/>
              </a:rPr>
              <a:t>✅</a:t>
            </a:r>
            <a:r>
              <a:rPr lang="es-ES" altLang="ko-KR" sz="1600" dirty="0">
                <a:latin typeface="+mn-ea"/>
                <a:ea typeface="+mn-ea"/>
              </a:rPr>
              <a:t>detection</a:t>
            </a:r>
            <a:r>
              <a:rPr lang="ko-KR" altLang="en-US" sz="1600" dirty="0">
                <a:latin typeface="+mn-ea"/>
                <a:ea typeface="+mn-ea"/>
              </a:rPr>
              <a:t>과 </a:t>
            </a:r>
            <a:r>
              <a:rPr lang="es-ES" altLang="ko-KR" sz="1600" dirty="0">
                <a:latin typeface="+mn-ea"/>
                <a:ea typeface="+mn-ea"/>
              </a:rPr>
              <a:t>grounding</a:t>
            </a:r>
            <a:r>
              <a:rPr lang="ko-KR" altLang="en-US" sz="1600" dirty="0">
                <a:latin typeface="+mn-ea"/>
                <a:ea typeface="+mn-ea"/>
              </a:rPr>
              <a:t>의 통합</a:t>
            </a:r>
            <a:endParaRPr lang="en-US" altLang="ko-KR" sz="1600" dirty="0">
              <a:latin typeface="+mn-ea"/>
              <a:ea typeface="+mn-ea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latin typeface="+mn-ea"/>
                <a:ea typeface="+mn-ea"/>
              </a:rPr>
              <a:t>✅대규모 </a:t>
            </a:r>
            <a:r>
              <a:rPr lang="es-ES" altLang="ko-KR" sz="1600" dirty="0">
                <a:latin typeface="+mn-ea"/>
                <a:ea typeface="+mn-ea"/>
              </a:rPr>
              <a:t>image-text data </a:t>
            </a:r>
            <a:r>
              <a:rPr lang="ko-KR" altLang="en-US" sz="1600" dirty="0">
                <a:latin typeface="+mn-ea"/>
                <a:ea typeface="+mn-ea"/>
              </a:rPr>
              <a:t>학습을 통한 </a:t>
            </a:r>
            <a:r>
              <a:rPr lang="en-US" altLang="ko-KR" sz="1600" dirty="0">
                <a:latin typeface="+mn-ea"/>
                <a:ea typeface="+mn-ea"/>
              </a:rPr>
              <a:t>visual concept </a:t>
            </a:r>
            <a:r>
              <a:rPr lang="ko-KR" altLang="en-US" sz="1600" dirty="0">
                <a:latin typeface="+mn-ea"/>
                <a:ea typeface="+mn-ea"/>
              </a:rPr>
              <a:t>규모 확대</a:t>
            </a:r>
            <a:endParaRPr lang="en-US" altLang="ko-KR" sz="1200" dirty="0">
              <a:latin typeface="+mn-ea"/>
              <a:ea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0477B5-E2F5-5754-B800-7F4D1678B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613" y="1885071"/>
            <a:ext cx="3017368" cy="16438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23BDF73-02D3-F705-2286-6FED33046C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74" r="3840"/>
          <a:stretch/>
        </p:blipFill>
        <p:spPr>
          <a:xfrm>
            <a:off x="1424333" y="1739272"/>
            <a:ext cx="3431023" cy="1847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더하기 기호 11">
            <a:extLst>
              <a:ext uri="{FF2B5EF4-FFF2-40B4-BE49-F238E27FC236}">
                <a16:creationId xmlns:a16="http://schemas.microsoft.com/office/drawing/2014/main" id="{0FC6B846-9836-DFD6-C021-C7AB0B2AE101}"/>
              </a:ext>
            </a:extLst>
          </p:cNvPr>
          <p:cNvSpPr/>
          <p:nvPr/>
        </p:nvSpPr>
        <p:spPr>
          <a:xfrm>
            <a:off x="4876923" y="2347110"/>
            <a:ext cx="513397" cy="517890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DC657-86D8-09E9-E0D4-A19DA0F7BA9B}"/>
              </a:ext>
            </a:extLst>
          </p:cNvPr>
          <p:cNvSpPr txBox="1"/>
          <p:nvPr/>
        </p:nvSpPr>
        <p:spPr>
          <a:xfrm>
            <a:off x="1408975" y="3666006"/>
            <a:ext cx="368306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detection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경계상자를 찾고</a:t>
            </a:r>
            <a:r>
              <a:rPr lang="en-US" altLang="ko-KR" sz="1200" dirty="0">
                <a:latin typeface="+mn-ea"/>
                <a:ea typeface="+mn-ea"/>
              </a:rPr>
              <a:t>,</a:t>
            </a:r>
          </a:p>
          <a:p>
            <a:r>
              <a:rPr lang="ko-KR" altLang="en-US" sz="1200" dirty="0">
                <a:latin typeface="+mn-ea"/>
                <a:ea typeface="+mn-ea"/>
              </a:rPr>
              <a:t>해당 경계상자에 포함된 객체를 분류하는 태스크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22401-69E5-DC10-EBD9-66A6D938CC8F}"/>
              </a:ext>
            </a:extLst>
          </p:cNvPr>
          <p:cNvSpPr txBox="1"/>
          <p:nvPr/>
        </p:nvSpPr>
        <p:spPr>
          <a:xfrm>
            <a:off x="5478613" y="3711594"/>
            <a:ext cx="293271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grounding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경계상자가 해당 자연어와 맞는지 확인하는 태스크</a:t>
            </a: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3885214F-FF72-59AB-E292-6D2A054D1602}"/>
              </a:ext>
            </a:extLst>
          </p:cNvPr>
          <p:cNvSpPr txBox="1"/>
          <p:nvPr/>
        </p:nvSpPr>
        <p:spPr>
          <a:xfrm>
            <a:off x="1408975" y="361383"/>
            <a:ext cx="631082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altLang="ko-KR" sz="1600" b="1" dirty="0">
                <a:latin typeface="+mn-ea"/>
                <a:ea typeface="+mn-ea"/>
              </a:rPr>
              <a:t>Contribution</a:t>
            </a:r>
            <a:endParaRPr lang="en-US" altLang="ko-KR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835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5D60DD0-25F7-B36C-0D83-0093B4F7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CC9FD8-50B0-3E4A-BCE0-37883C7BB1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8225"/>
          <a:stretch/>
        </p:blipFill>
        <p:spPr>
          <a:xfrm>
            <a:off x="2161231" y="702121"/>
            <a:ext cx="5713002" cy="3471138"/>
          </a:xfrm>
          <a:prstGeom prst="rect">
            <a:avLst/>
          </a:prstGeom>
        </p:spPr>
      </p:pic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33F9AD3-760B-4833-6896-02C55E710A9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9B0AAB1-4422-C8AF-B7FF-EE24897CE02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C5559C8-1192-C809-A84C-F7F2DD8C93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C28D6CE3-8626-5229-8D0E-88DA8ED9A5CE}"/>
              </a:ext>
            </a:extLst>
          </p:cNvPr>
          <p:cNvSpPr txBox="1"/>
          <p:nvPr/>
        </p:nvSpPr>
        <p:spPr>
          <a:xfrm>
            <a:off x="1408975" y="3875406"/>
            <a:ext cx="7208014" cy="830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latin typeface="+mn-ea"/>
                <a:ea typeface="+mn-ea"/>
              </a:rPr>
              <a:t>- 1️⃣grounding</a:t>
            </a:r>
            <a:r>
              <a:rPr lang="ko-KR" altLang="en-US" dirty="0">
                <a:latin typeface="+mn-ea"/>
                <a:ea typeface="+mn-ea"/>
              </a:rPr>
              <a:t>과</a:t>
            </a:r>
            <a:r>
              <a:rPr lang="en-US" altLang="ko-KR" dirty="0">
                <a:latin typeface="+mn-ea"/>
                <a:ea typeface="+mn-ea"/>
              </a:rPr>
              <a:t> detection</a:t>
            </a:r>
            <a:r>
              <a:rPr lang="ko-KR" altLang="en-US" dirty="0">
                <a:latin typeface="+mn-ea"/>
                <a:ea typeface="+mn-ea"/>
              </a:rPr>
              <a:t>이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통합된 프레임워크</a:t>
            </a:r>
            <a:endParaRPr lang="en-US" altLang="ko-KR" dirty="0">
              <a:latin typeface="+mn-ea"/>
              <a:ea typeface="+mn-ea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latin typeface="+mn-ea"/>
                <a:ea typeface="+mn-ea"/>
              </a:rPr>
              <a:t>- 2️⃣</a:t>
            </a:r>
            <a:r>
              <a:rPr lang="ko-KR" altLang="en-US" dirty="0">
                <a:latin typeface="+mn-ea"/>
                <a:ea typeface="+mn-ea"/>
              </a:rPr>
              <a:t>각각의 인코더로 </a:t>
            </a:r>
            <a:r>
              <a:rPr lang="ko-KR" altLang="en-US" dirty="0" err="1">
                <a:latin typeface="+mn-ea"/>
                <a:ea typeface="+mn-ea"/>
              </a:rPr>
              <a:t>인코딩된</a:t>
            </a:r>
            <a:r>
              <a:rPr lang="ko-KR" altLang="en-US" dirty="0">
                <a:latin typeface="+mn-ea"/>
                <a:ea typeface="+mn-ea"/>
              </a:rPr>
              <a:t> 이미지와 텍스트의 상호작용이 학습 과정에 반영</a:t>
            </a:r>
            <a:r>
              <a:rPr lang="en-US" altLang="ko-KR" dirty="0">
                <a:latin typeface="+mn-ea"/>
                <a:ea typeface="+mn-ea"/>
              </a:rPr>
              <a:t>(deep fusion)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A2D663-19DC-EC94-DFE5-524EF1534A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994" r="23202"/>
          <a:stretch/>
        </p:blipFill>
        <p:spPr>
          <a:xfrm>
            <a:off x="1505117" y="1132978"/>
            <a:ext cx="7208015" cy="2785402"/>
          </a:xfrm>
          <a:prstGeom prst="rect">
            <a:avLst/>
          </a:prstGeom>
        </p:spPr>
      </p:pic>
      <p:sp>
        <p:nvSpPr>
          <p:cNvPr id="11" name="Google Shape;75;p15">
            <a:extLst>
              <a:ext uri="{FF2B5EF4-FFF2-40B4-BE49-F238E27FC236}">
                <a16:creationId xmlns:a16="http://schemas.microsoft.com/office/drawing/2014/main" id="{99E59F6B-ED11-2DF9-560B-55AD43CB8AB9}"/>
              </a:ext>
            </a:extLst>
          </p:cNvPr>
          <p:cNvSpPr txBox="1"/>
          <p:nvPr/>
        </p:nvSpPr>
        <p:spPr>
          <a:xfrm>
            <a:off x="1408975" y="361383"/>
            <a:ext cx="631082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n-ea"/>
                <a:ea typeface="+mn-ea"/>
              </a:rPr>
              <a:t>Model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  <a:ea typeface="+mn-ea"/>
              </a:rPr>
              <a:t>Overview</a:t>
            </a:r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5F27D5-D186-1FAF-E1D3-D2984FE117A4}"/>
              </a:ext>
            </a:extLst>
          </p:cNvPr>
          <p:cNvSpPr txBox="1"/>
          <p:nvPr/>
        </p:nvSpPr>
        <p:spPr>
          <a:xfrm>
            <a:off x="1521275" y="2009564"/>
            <a:ext cx="449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1️⃣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F948D-987E-A989-E937-1D362367C292}"/>
              </a:ext>
            </a:extLst>
          </p:cNvPr>
          <p:cNvSpPr txBox="1"/>
          <p:nvPr/>
        </p:nvSpPr>
        <p:spPr>
          <a:xfrm>
            <a:off x="3766842" y="2007612"/>
            <a:ext cx="570488" cy="3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2️⃣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527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D32F69FA-636C-1EC3-BC00-244010C1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44" t="16838" r="23374" b="40038"/>
          <a:stretch/>
        </p:blipFill>
        <p:spPr>
          <a:xfrm>
            <a:off x="5464970" y="1248722"/>
            <a:ext cx="2663699" cy="1295615"/>
          </a:xfrm>
          <a:prstGeom prst="rect">
            <a:avLst/>
          </a:prstGeom>
        </p:spPr>
      </p:pic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278EFEE0-7DC6-B6E0-6EFA-948707296EE9}"/>
              </a:ext>
            </a:extLst>
          </p:cNvPr>
          <p:cNvSpPr txBox="1"/>
          <p:nvPr/>
        </p:nvSpPr>
        <p:spPr>
          <a:xfrm>
            <a:off x="1353975" y="241243"/>
            <a:ext cx="363565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Unified Formulation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932CF2D-FD25-1E41-E4A9-79CB681AD8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35" t="43710" r="3010" b="22374"/>
          <a:stretch/>
        </p:blipFill>
        <p:spPr>
          <a:xfrm>
            <a:off x="1456904" y="1697416"/>
            <a:ext cx="3074973" cy="8937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CF7432-4D1B-C972-4EEB-A40051AB0CF9}"/>
              </a:ext>
            </a:extLst>
          </p:cNvPr>
          <p:cNvSpPr txBox="1"/>
          <p:nvPr/>
        </p:nvSpPr>
        <p:spPr>
          <a:xfrm>
            <a:off x="1795430" y="927976"/>
            <a:ext cx="23305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altLang="ko-KR" b="1" dirty="0">
                <a:latin typeface="+mn-ea"/>
                <a:ea typeface="+mn-ea"/>
              </a:rPr>
              <a:t>&lt;Object detection&gt;(</a:t>
            </a:r>
            <a:r>
              <a:rPr lang="ko-KR" altLang="en-US" b="1" dirty="0">
                <a:latin typeface="+mn-ea"/>
                <a:ea typeface="+mn-ea"/>
              </a:rPr>
              <a:t>기존</a:t>
            </a:r>
            <a:r>
              <a:rPr lang="en-US" altLang="ko-KR" b="1" dirty="0">
                <a:latin typeface="+mn-ea"/>
                <a:ea typeface="+mn-ea"/>
              </a:rPr>
              <a:t>)</a:t>
            </a:r>
            <a:endParaRPr lang="ko-KR" altLang="en-US" b="1" dirty="0">
              <a:latin typeface="+mn-ea"/>
              <a:ea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890E6F-9154-09BA-AC66-CE1C59A5C4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8" t="88321"/>
          <a:stretch/>
        </p:blipFill>
        <p:spPr>
          <a:xfrm>
            <a:off x="1465684" y="3015323"/>
            <a:ext cx="3412235" cy="3077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0A61C25-1FE9-F44C-CCA8-A5A5A30819BA}"/>
              </a:ext>
            </a:extLst>
          </p:cNvPr>
          <p:cNvSpPr txBox="1"/>
          <p:nvPr/>
        </p:nvSpPr>
        <p:spPr>
          <a:xfrm>
            <a:off x="1407591" y="3446083"/>
            <a:ext cx="31644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sz="1200" b="1" dirty="0">
                <a:solidFill>
                  <a:schemeClr val="bg2"/>
                </a:solidFill>
                <a:latin typeface="+mn-ea"/>
                <a:ea typeface="+mn-ea"/>
              </a:rPr>
              <a:t>O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입력 이미지의 특징</a:t>
            </a:r>
            <a:endParaRPr lang="en-US" altLang="ko-KR" sz="1200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ko-KR" sz="1200" b="1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U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프롬프트 텍스트의 특징</a:t>
            </a:r>
            <a:endParaRPr lang="es-ES" altLang="ko-KR" sz="1200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s-ES" altLang="ko-KR" sz="1200" b="1" dirty="0">
                <a:solidFill>
                  <a:schemeClr val="bg2"/>
                </a:solidFill>
                <a:latin typeface="+mn-ea"/>
                <a:ea typeface="+mn-ea"/>
              </a:rPr>
              <a:t>W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분류기 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의 가중치</a:t>
            </a:r>
            <a:endParaRPr lang="en-US" altLang="ko-KR" sz="1200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s-ES" altLang="ko-KR" sz="1200" b="1" dirty="0">
                <a:solidFill>
                  <a:schemeClr val="bg2"/>
                </a:solidFill>
                <a:latin typeface="+mn-ea"/>
                <a:ea typeface="+mn-ea"/>
              </a:rPr>
              <a:t>S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분류된 결과값</a:t>
            </a:r>
            <a:endParaRPr lang="en-US" altLang="ko-KR" sz="1200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s-ES" altLang="ko-KR" sz="1200" b="1" dirty="0">
                <a:solidFill>
                  <a:schemeClr val="bg2"/>
                </a:solidFill>
                <a:latin typeface="+mn-ea"/>
                <a:ea typeface="+mn-ea"/>
              </a:rPr>
              <a:t>T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 err="1">
                <a:solidFill>
                  <a:schemeClr val="bg2"/>
                </a:solidFill>
                <a:latin typeface="+mn-ea"/>
                <a:ea typeface="+mn-ea"/>
              </a:rPr>
              <a:t>타겟값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ko-KR" sz="1200" dirty="0">
                <a:solidFill>
                  <a:schemeClr val="bg2"/>
                </a:solidFill>
                <a:latin typeface="+mn-ea"/>
                <a:ea typeface="+mn-ea"/>
              </a:rPr>
              <a:t>–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객체 해당 여부</a:t>
            </a:r>
          </a:p>
        </p:txBody>
      </p:sp>
      <p:sp>
        <p:nvSpPr>
          <p:cNvPr id="20" name="Google Shape;75;p15">
            <a:extLst>
              <a:ext uri="{FF2B5EF4-FFF2-40B4-BE49-F238E27FC236}">
                <a16:creationId xmlns:a16="http://schemas.microsoft.com/office/drawing/2014/main" id="{E754526F-C39F-4209-953F-002C0E47DB45}"/>
              </a:ext>
            </a:extLst>
          </p:cNvPr>
          <p:cNvSpPr txBox="1"/>
          <p:nvPr/>
        </p:nvSpPr>
        <p:spPr>
          <a:xfrm>
            <a:off x="3530749" y="4527977"/>
            <a:ext cx="4452062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+mj-ea"/>
                <a:ea typeface="+mj-ea"/>
              </a:rPr>
              <a:t>사실상 </a:t>
            </a:r>
            <a:r>
              <a:rPr lang="ko-KR" altLang="en-US" b="1" dirty="0">
                <a:latin typeface="+mj-ea"/>
                <a:ea typeface="+mj-ea"/>
              </a:rPr>
              <a:t>가중치 </a:t>
            </a:r>
            <a:r>
              <a:rPr lang="en-US" altLang="ko-KR" b="1" dirty="0">
                <a:latin typeface="+mj-ea"/>
                <a:ea typeface="+mj-ea"/>
              </a:rPr>
              <a:t>W</a:t>
            </a:r>
            <a:r>
              <a:rPr lang="ko-KR" altLang="en-US" dirty="0">
                <a:latin typeface="+mj-ea"/>
                <a:ea typeface="+mj-ea"/>
              </a:rPr>
              <a:t>를 </a:t>
            </a:r>
            <a:r>
              <a:rPr lang="ko-KR" altLang="en-US" b="1" dirty="0">
                <a:latin typeface="+mj-ea"/>
                <a:ea typeface="+mj-ea"/>
              </a:rPr>
              <a:t>프롬프트 </a:t>
            </a:r>
            <a:r>
              <a:rPr lang="ko-KR" altLang="en-US" b="1" dirty="0" err="1">
                <a:latin typeface="+mj-ea"/>
                <a:ea typeface="+mj-ea"/>
              </a:rPr>
              <a:t>인코딩값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P</a:t>
            </a:r>
            <a:r>
              <a:rPr lang="ko-KR" altLang="en-US" b="1" dirty="0">
                <a:latin typeface="+mj-ea"/>
                <a:ea typeface="+mj-ea"/>
              </a:rPr>
              <a:t>로 대체</a:t>
            </a:r>
            <a:r>
              <a:rPr lang="ko-KR" altLang="en-US" dirty="0">
                <a:latin typeface="+mj-ea"/>
                <a:ea typeface="+mj-ea"/>
              </a:rPr>
              <a:t>한 </a:t>
            </a:r>
            <a:r>
              <a:rPr lang="en-US" altLang="ko-KR" dirty="0">
                <a:latin typeface="+mj-ea"/>
                <a:ea typeface="+mj-ea"/>
              </a:rPr>
              <a:t>classification loss </a:t>
            </a:r>
            <a:r>
              <a:rPr lang="ko-KR" altLang="en-US" dirty="0">
                <a:latin typeface="+mj-ea"/>
                <a:ea typeface="+mj-ea"/>
              </a:rPr>
              <a:t>설계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B17C4F-A223-5BED-0485-2819D311818A}"/>
              </a:ext>
            </a:extLst>
          </p:cNvPr>
          <p:cNvSpPr/>
          <p:nvPr/>
        </p:nvSpPr>
        <p:spPr>
          <a:xfrm>
            <a:off x="2960683" y="3036691"/>
            <a:ext cx="445025" cy="265041"/>
          </a:xfrm>
          <a:prstGeom prst="rect">
            <a:avLst/>
          </a:prstGeom>
          <a:solidFill>
            <a:schemeClr val="accent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50F39A2-2FB8-D06A-2F81-46A1F1E2BFD7}"/>
              </a:ext>
            </a:extLst>
          </p:cNvPr>
          <p:cNvCxnSpPr>
            <a:cxnSpLocks/>
            <a:stCxn id="21" idx="2"/>
            <a:endCxn id="22" idx="2"/>
          </p:cNvCxnSpPr>
          <p:nvPr/>
        </p:nvCxnSpPr>
        <p:spPr>
          <a:xfrm rot="16200000" flipH="1">
            <a:off x="5746096" y="738831"/>
            <a:ext cx="21368" cy="5147169"/>
          </a:xfrm>
          <a:prstGeom prst="bentConnector3">
            <a:avLst>
              <a:gd name="adj1" fmla="val 5524869"/>
            </a:avLst>
          </a:prstGeom>
          <a:ln w="63500">
            <a:solidFill>
              <a:schemeClr val="accent1"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A86B47-7580-46AB-C3A4-F090BB4E11C8}"/>
              </a:ext>
            </a:extLst>
          </p:cNvPr>
          <p:cNvSpPr txBox="1"/>
          <p:nvPr/>
        </p:nvSpPr>
        <p:spPr>
          <a:xfrm>
            <a:off x="4572000" y="90660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altLang="ko-KR" b="1" dirty="0">
                <a:latin typeface="+mn-ea"/>
                <a:ea typeface="+mn-ea"/>
              </a:rPr>
              <a:t>&lt;Object detection as Phrase grounding&gt;(GLIP)</a:t>
            </a:r>
            <a:endParaRPr lang="ko-KR" altLang="en-US" b="1" dirty="0">
              <a:latin typeface="+mn-ea"/>
              <a:ea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968E1FF-87F0-2771-6C10-A8CA4994BC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9629" y="2599163"/>
            <a:ext cx="3880049" cy="72393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929D81F-F752-1A87-E163-E7D77CA4BFA9}"/>
              </a:ext>
            </a:extLst>
          </p:cNvPr>
          <p:cNvSpPr/>
          <p:nvPr/>
        </p:nvSpPr>
        <p:spPr>
          <a:xfrm>
            <a:off x="8128669" y="3036690"/>
            <a:ext cx="403391" cy="286410"/>
          </a:xfrm>
          <a:prstGeom prst="rect">
            <a:avLst/>
          </a:prstGeom>
          <a:solidFill>
            <a:schemeClr val="accent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BB8096A-1BE0-B7E1-575F-99DC3E7DD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2944" y="3458326"/>
            <a:ext cx="1333591" cy="29822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2BA9AC7-5BED-9712-CF00-9B87B409DA3F}"/>
              </a:ext>
            </a:extLst>
          </p:cNvPr>
          <p:cNvSpPr txBox="1"/>
          <p:nvPr/>
        </p:nvSpPr>
        <p:spPr>
          <a:xfrm>
            <a:off x="5012944" y="3820075"/>
            <a:ext cx="372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sz="1200" b="1" dirty="0">
                <a:solidFill>
                  <a:schemeClr val="bg2"/>
                </a:solidFill>
                <a:latin typeface="+mn-ea"/>
                <a:ea typeface="+mn-ea"/>
              </a:rPr>
              <a:t>Classification loss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경계상자의 분류에 대한 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loss</a:t>
            </a:r>
          </a:p>
          <a:p>
            <a:r>
              <a:rPr lang="es-ES" altLang="ko-KR" sz="1200" b="1" dirty="0">
                <a:solidFill>
                  <a:schemeClr val="bg2"/>
                </a:solidFill>
                <a:latin typeface="+mn-ea"/>
                <a:ea typeface="+mn-ea"/>
              </a:rPr>
              <a:t>Localization loss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경계상자의 위치에 대한 </a:t>
            </a:r>
            <a:r>
              <a:rPr lang="es-ES" altLang="ko-KR" sz="1200" dirty="0">
                <a:solidFill>
                  <a:schemeClr val="bg2"/>
                </a:solidFill>
                <a:latin typeface="+mn-ea"/>
                <a:ea typeface="+mn-ea"/>
              </a:rPr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344301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BBA3118-926E-6C9E-6127-6DDB24D8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CB15829-6E5C-530C-E0A7-8D4D2087C6F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3CAB81B-A874-C179-B753-D3F9704D83A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797B582-5245-F07A-8991-FCC274DDC1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32C514A9-AA36-A3FE-C677-B6921EB338A7}"/>
              </a:ext>
            </a:extLst>
          </p:cNvPr>
          <p:cNvSpPr txBox="1"/>
          <p:nvPr/>
        </p:nvSpPr>
        <p:spPr>
          <a:xfrm>
            <a:off x="1353975" y="241243"/>
            <a:ext cx="363565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Unified Formulation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3DA1BA-B223-0B40-B54E-79FF16C75E9B}"/>
              </a:ext>
            </a:extLst>
          </p:cNvPr>
          <p:cNvSpPr txBox="1"/>
          <p:nvPr/>
        </p:nvSpPr>
        <p:spPr>
          <a:xfrm>
            <a:off x="1765336" y="3253005"/>
            <a:ext cx="6281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원인 </a:t>
            </a:r>
            <a:r>
              <a:rPr lang="en-US" altLang="ko-KR" sz="1200" dirty="0">
                <a:latin typeface="+mn-ea"/>
                <a:ea typeface="+mn-ea"/>
              </a:rPr>
              <a:t>1) </a:t>
            </a:r>
            <a:r>
              <a:rPr lang="ko-KR" altLang="en-US" sz="1200" dirty="0">
                <a:latin typeface="+mn-ea"/>
                <a:ea typeface="+mn-ea"/>
              </a:rPr>
              <a:t>일부 구문은 여러 단어로 구성됨</a:t>
            </a:r>
            <a:r>
              <a:rPr lang="en-US" altLang="ko-KR" sz="1200" dirty="0">
                <a:latin typeface="+mn-ea"/>
                <a:ea typeface="+mn-ea"/>
              </a:rPr>
              <a:t>. (</a:t>
            </a:r>
            <a:r>
              <a:rPr lang="ko-KR" altLang="en-US" sz="1200" dirty="0">
                <a:latin typeface="+mn-ea"/>
                <a:ea typeface="+mn-ea"/>
              </a:rPr>
              <a:t>예시</a:t>
            </a:r>
            <a:r>
              <a:rPr lang="en-US" altLang="ko-KR" sz="1200" dirty="0">
                <a:latin typeface="+mn-ea"/>
                <a:ea typeface="+mn-ea"/>
              </a:rPr>
              <a:t>: “traffic </a:t>
            </a:r>
            <a:r>
              <a:rPr lang="en-US" altLang="ko-KR" sz="1200" dirty="0" err="1">
                <a:latin typeface="+mn-ea"/>
                <a:ea typeface="+mn-ea"/>
              </a:rPr>
              <a:t>lightˮ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원인 </a:t>
            </a:r>
            <a:r>
              <a:rPr lang="en-US" altLang="ko-KR" sz="1200" dirty="0">
                <a:latin typeface="+mn-ea"/>
                <a:ea typeface="+mn-ea"/>
              </a:rPr>
              <a:t>2) </a:t>
            </a:r>
            <a:r>
              <a:rPr lang="ko-KR" altLang="en-US" sz="1200" dirty="0">
                <a:latin typeface="+mn-ea"/>
                <a:ea typeface="+mn-ea"/>
              </a:rPr>
              <a:t>스페셜 토큰들이 붙는 경우 존재</a:t>
            </a:r>
            <a:r>
              <a:rPr lang="en-US" altLang="ko-KR" sz="1200" dirty="0">
                <a:latin typeface="+mn-ea"/>
                <a:ea typeface="+mn-ea"/>
              </a:rPr>
              <a:t>. (</a:t>
            </a:r>
            <a:r>
              <a:rPr lang="ko-KR" altLang="en-US" sz="1200" dirty="0">
                <a:latin typeface="+mn-ea"/>
                <a:ea typeface="+mn-ea"/>
              </a:rPr>
              <a:t>예시</a:t>
            </a:r>
            <a:r>
              <a:rPr lang="en-US" altLang="ko-KR" sz="1200" dirty="0">
                <a:latin typeface="+mn-ea"/>
                <a:ea typeface="+mn-ea"/>
              </a:rPr>
              <a:t>: [</a:t>
            </a:r>
            <a:r>
              <a:rPr lang="en-US" altLang="ko-KR" sz="1200" dirty="0" err="1">
                <a:latin typeface="+mn-ea"/>
                <a:ea typeface="+mn-ea"/>
              </a:rPr>
              <a:t>NoObj</a:t>
            </a:r>
            <a:r>
              <a:rPr lang="en-US" altLang="ko-KR" sz="1200" dirty="0">
                <a:latin typeface="+mn-ea"/>
                <a:ea typeface="+mn-ea"/>
              </a:rPr>
              <a:t>] </a:t>
            </a:r>
            <a:r>
              <a:rPr lang="ko-KR" altLang="en-US" sz="1200" dirty="0">
                <a:latin typeface="+mn-ea"/>
                <a:ea typeface="+mn-ea"/>
              </a:rPr>
              <a:t>토큰이 항상 마지막에 추가됨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E5974-4337-7CC3-E6CE-F8EE31029B8A}"/>
              </a:ext>
            </a:extLst>
          </p:cNvPr>
          <p:cNvSpPr txBox="1"/>
          <p:nvPr/>
        </p:nvSpPr>
        <p:spPr>
          <a:xfrm>
            <a:off x="1567329" y="2561327"/>
            <a:ext cx="6009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 err="1">
                <a:highlight>
                  <a:srgbClr val="FFFF00"/>
                </a:highlight>
                <a:latin typeface="+mn-ea"/>
                <a:ea typeface="+mn-ea"/>
              </a:rPr>
              <a:t>예측값</a:t>
            </a:r>
            <a:r>
              <a:rPr lang="ko-KR" altLang="en-US" sz="1600" b="1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S (N×M)</a:t>
            </a:r>
            <a:r>
              <a:rPr lang="ko-KR" altLang="en-US" sz="1600" dirty="0">
                <a:highlight>
                  <a:srgbClr val="FFFF00"/>
                </a:highlight>
                <a:latin typeface="+mn-ea"/>
                <a:ea typeface="+mn-ea"/>
              </a:rPr>
              <a:t>와 </a:t>
            </a:r>
            <a:r>
              <a:rPr lang="ko-KR" altLang="en-US" sz="1600" b="1" dirty="0" err="1">
                <a:highlight>
                  <a:srgbClr val="FFFF00"/>
                </a:highlight>
                <a:latin typeface="+mn-ea"/>
                <a:ea typeface="+mn-ea"/>
              </a:rPr>
              <a:t>타겟값</a:t>
            </a:r>
            <a:r>
              <a:rPr lang="ko-KR" altLang="en-US" sz="1600" b="1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T (</a:t>
            </a:r>
            <a:r>
              <a:rPr lang="en-US" altLang="ko-KR" sz="1600" b="1" dirty="0" err="1">
                <a:highlight>
                  <a:srgbClr val="FFFF00"/>
                </a:highlight>
                <a:latin typeface="+mn-ea"/>
                <a:ea typeface="+mn-ea"/>
              </a:rPr>
              <a:t>N×c</a:t>
            </a:r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1600" dirty="0">
                <a:highlight>
                  <a:srgbClr val="FFFF00"/>
                </a:highlight>
                <a:latin typeface="+mn-ea"/>
                <a:ea typeface="+mn-ea"/>
              </a:rPr>
              <a:t>의 </a:t>
            </a:r>
            <a:r>
              <a:rPr lang="ko-KR" altLang="en-US" sz="1600" b="1" dirty="0">
                <a:highlight>
                  <a:srgbClr val="FFFF00"/>
                </a:highlight>
                <a:latin typeface="+mn-ea"/>
                <a:ea typeface="+mn-ea"/>
              </a:rPr>
              <a:t>차원이 다른 문제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발생함</a:t>
            </a:r>
            <a:r>
              <a:rPr lang="en-US" altLang="ko-KR" sz="1600" dirty="0">
                <a:latin typeface="+mn-ea"/>
                <a:ea typeface="+mn-ea"/>
              </a:rPr>
              <a:t>. (M&lt;=c)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CB1183-9911-A9C3-34AF-942A8AE00012}"/>
              </a:ext>
            </a:extLst>
          </p:cNvPr>
          <p:cNvSpPr txBox="1"/>
          <p:nvPr/>
        </p:nvSpPr>
        <p:spPr>
          <a:xfrm>
            <a:off x="2876504" y="6721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altLang="ko-KR" b="1" dirty="0">
                <a:latin typeface="+mn-ea"/>
                <a:ea typeface="+mn-ea"/>
              </a:rPr>
              <a:t>&lt;Object detection as Phrase grounding&gt;(GLIP)</a:t>
            </a:r>
            <a:endParaRPr lang="ko-KR" altLang="en-US" b="1" dirty="0">
              <a:latin typeface="+mn-ea"/>
              <a:ea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005E226-4478-0FD1-B8A6-4DB31DDE45E8}"/>
              </a:ext>
            </a:extLst>
          </p:cNvPr>
          <p:cNvGrpSpPr/>
          <p:nvPr/>
        </p:nvGrpSpPr>
        <p:grpSpPr>
          <a:xfrm>
            <a:off x="4989629" y="1410734"/>
            <a:ext cx="3880049" cy="607877"/>
            <a:chOff x="4989629" y="1555772"/>
            <a:chExt cx="3880049" cy="60787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ADC0D3F-9A38-DC04-DFFB-CD29A7827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0437"/>
            <a:stretch/>
          </p:blipFill>
          <p:spPr>
            <a:xfrm>
              <a:off x="4989629" y="1555772"/>
              <a:ext cx="3880049" cy="286410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D90F64E-0B4E-CC29-CD6F-77BEC556FDCD}"/>
                </a:ext>
              </a:extLst>
            </p:cNvPr>
            <p:cNvSpPr/>
            <p:nvPr/>
          </p:nvSpPr>
          <p:spPr>
            <a:xfrm>
              <a:off x="8128669" y="1555772"/>
              <a:ext cx="403391" cy="286410"/>
            </a:xfrm>
            <a:prstGeom prst="rect">
              <a:avLst/>
            </a:prstGeom>
            <a:solidFill>
              <a:schemeClr val="accent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8028E21-3EBC-FA54-087C-61B3F50B0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9629" y="1865420"/>
              <a:ext cx="1333591" cy="298229"/>
            </a:xfrm>
            <a:prstGeom prst="rect">
              <a:avLst/>
            </a:prstGeom>
          </p:spPr>
        </p:pic>
      </p:grp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8BB04DBF-019D-0F36-CF30-0FE1946B4580}"/>
              </a:ext>
            </a:extLst>
          </p:cNvPr>
          <p:cNvSpPr/>
          <p:nvPr/>
        </p:nvSpPr>
        <p:spPr>
          <a:xfrm>
            <a:off x="1678916" y="4379176"/>
            <a:ext cx="631179" cy="30749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D27C0D-EDF3-5AF4-12A0-8CD46524DDAE}"/>
              </a:ext>
            </a:extLst>
          </p:cNvPr>
          <p:cNvSpPr txBox="1"/>
          <p:nvPr/>
        </p:nvSpPr>
        <p:spPr>
          <a:xfrm>
            <a:off x="2387937" y="4163593"/>
            <a:ext cx="54260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한개의 구문이 </a:t>
            </a:r>
            <a:r>
              <a:rPr lang="en-US" altLang="ko-KR" dirty="0">
                <a:latin typeface="+mn-ea"/>
                <a:ea typeface="+mn-ea"/>
              </a:rPr>
              <a:t>positive</a:t>
            </a:r>
            <a:r>
              <a:rPr lang="ko-KR" altLang="en-US" dirty="0">
                <a:latin typeface="+mn-ea"/>
                <a:ea typeface="+mn-ea"/>
              </a:rPr>
              <a:t>라면</a:t>
            </a:r>
            <a:r>
              <a:rPr lang="en-US" altLang="ko-KR" dirty="0">
                <a:latin typeface="+mn-ea"/>
                <a:ea typeface="+mn-ea"/>
              </a:rPr>
              <a:t>,</a:t>
            </a:r>
            <a:r>
              <a:rPr lang="ko-KR" altLang="en-US" dirty="0">
                <a:latin typeface="+mn-ea"/>
                <a:ea typeface="+mn-ea"/>
              </a:rPr>
              <a:t> 구문 내 단어들을 모두 </a:t>
            </a:r>
            <a:r>
              <a:rPr lang="en-US" altLang="ko-KR" dirty="0">
                <a:latin typeface="+mn-ea"/>
                <a:ea typeface="+mn-ea"/>
              </a:rPr>
              <a:t>positive</a:t>
            </a:r>
            <a:r>
              <a:rPr lang="ko-KR" altLang="en-US" dirty="0">
                <a:latin typeface="+mn-ea"/>
                <a:ea typeface="+mn-ea"/>
              </a:rPr>
              <a:t>로 간주하고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추가된 토큰은 모두 </a:t>
            </a:r>
            <a:r>
              <a:rPr lang="en-US" altLang="ko-KR" dirty="0">
                <a:latin typeface="+mn-ea"/>
                <a:ea typeface="+mn-ea"/>
              </a:rPr>
              <a:t>negative</a:t>
            </a:r>
            <a:r>
              <a:rPr lang="ko-KR" altLang="en-US" dirty="0">
                <a:latin typeface="+mn-ea"/>
                <a:ea typeface="+mn-ea"/>
              </a:rPr>
              <a:t>로 간주하여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b="1" dirty="0">
                <a:latin typeface="+mn-ea"/>
                <a:ea typeface="+mn-ea"/>
              </a:rPr>
              <a:t>T (</a:t>
            </a:r>
            <a:r>
              <a:rPr lang="en-US" altLang="ko-KR" b="1" dirty="0" err="1">
                <a:latin typeface="+mn-ea"/>
                <a:ea typeface="+mn-ea"/>
              </a:rPr>
              <a:t>N×c</a:t>
            </a:r>
            <a:r>
              <a:rPr lang="en-US" altLang="ko-KR" b="1" dirty="0">
                <a:latin typeface="+mn-ea"/>
                <a:ea typeface="+mn-ea"/>
              </a:rPr>
              <a:t>)</a:t>
            </a:r>
            <a:r>
              <a:rPr lang="ko-KR" altLang="en-US" b="1" dirty="0">
                <a:latin typeface="+mn-ea"/>
                <a:ea typeface="+mn-ea"/>
              </a:rPr>
              <a:t>를 </a:t>
            </a:r>
            <a:r>
              <a:rPr lang="en-US" altLang="ko-KR" b="1" dirty="0">
                <a:latin typeface="+mn-ea"/>
                <a:ea typeface="+mn-ea"/>
              </a:rPr>
              <a:t>T (N×M)</a:t>
            </a:r>
            <a:r>
              <a:rPr lang="ko-KR" altLang="en-US" b="1" dirty="0">
                <a:latin typeface="+mn-ea"/>
                <a:ea typeface="+mn-ea"/>
              </a:rPr>
              <a:t>으로 확장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9A865A3-5AB8-CF8D-10EA-B5AF67798328}"/>
              </a:ext>
            </a:extLst>
          </p:cNvPr>
          <p:cNvGrpSpPr/>
          <p:nvPr/>
        </p:nvGrpSpPr>
        <p:grpSpPr>
          <a:xfrm>
            <a:off x="1437295" y="1064598"/>
            <a:ext cx="3469014" cy="1404712"/>
            <a:chOff x="1353963" y="1062255"/>
            <a:chExt cx="3469014" cy="1404712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0200DA1-B248-83FE-7106-224774202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58576"/>
            <a:stretch/>
          </p:blipFill>
          <p:spPr>
            <a:xfrm>
              <a:off x="1353963" y="1069778"/>
              <a:ext cx="1887398" cy="1048492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3348D09C-DC90-949C-D4DA-0753D2C04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394" t="44502" r="3429"/>
            <a:stretch/>
          </p:blipFill>
          <p:spPr>
            <a:xfrm>
              <a:off x="3139833" y="1062255"/>
              <a:ext cx="1683144" cy="1404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399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2C2E8DD-91A3-F7E6-426E-00088D67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CAFFD62-6E90-4A92-11FF-48F36E8845F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B0FDE13-28A0-D879-8C43-FC1E9AAE6D1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0110CF7-18C0-B226-1DED-955A8C6D20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476472EA-544E-B359-B81F-A9AA5864821B}"/>
              </a:ext>
            </a:extLst>
          </p:cNvPr>
          <p:cNvSpPr txBox="1"/>
          <p:nvPr/>
        </p:nvSpPr>
        <p:spPr>
          <a:xfrm>
            <a:off x="1353975" y="241243"/>
            <a:ext cx="363565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Language Aware Deep Fusion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0E8D3E-963A-7E4F-4AAC-11D45ED9A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883" y="2116496"/>
            <a:ext cx="4374385" cy="107513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93A5A79-15F0-29A1-7265-FB38C733B7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94" t="17920" r="55226" b="3484"/>
          <a:stretch/>
        </p:blipFill>
        <p:spPr>
          <a:xfrm>
            <a:off x="-25660" y="1232751"/>
            <a:ext cx="4374385" cy="293738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86F7BD5-08D0-99AA-8BA3-243032CFD11A}"/>
              </a:ext>
            </a:extLst>
          </p:cNvPr>
          <p:cNvSpPr txBox="1"/>
          <p:nvPr/>
        </p:nvSpPr>
        <p:spPr>
          <a:xfrm>
            <a:off x="1353975" y="4214119"/>
            <a:ext cx="3165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deep fusion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인코더의 마지막 층에서 </a:t>
            </a:r>
            <a:r>
              <a:rPr lang="en-US" altLang="ko-KR" sz="1200" dirty="0">
                <a:latin typeface="+mn-ea"/>
                <a:ea typeface="+mn-ea"/>
              </a:rPr>
              <a:t>fusion</a:t>
            </a:r>
            <a:r>
              <a:rPr lang="ko-KR" altLang="en-US" sz="1200" dirty="0">
                <a:latin typeface="+mn-ea"/>
                <a:ea typeface="+mn-ea"/>
              </a:rPr>
              <a:t>을 진행하는 방식</a:t>
            </a:r>
          </a:p>
        </p:txBody>
      </p:sp>
    </p:spTree>
    <p:extLst>
      <p:ext uri="{BB962C8B-B14F-4D97-AF65-F5344CB8AC3E}">
        <p14:creationId xmlns:p14="http://schemas.microsoft.com/office/powerpoint/2010/main" val="225602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1B1672F-1FAA-764E-0FBA-463A4C979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1CE50B0-AE5F-2E9D-A1C8-C6577EB94BE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B09E918-F52E-737D-6A1D-282515AAA7F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BFE3EE0-6F45-EB66-7119-3589A14A36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3A40A3D6-28C6-1568-6833-76CCE82F58B2}"/>
              </a:ext>
            </a:extLst>
          </p:cNvPr>
          <p:cNvSpPr txBox="1"/>
          <p:nvPr/>
        </p:nvSpPr>
        <p:spPr>
          <a:xfrm>
            <a:off x="1353975" y="241243"/>
            <a:ext cx="363565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Language Aware Deep Fusion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5082F5A-514A-95D2-0339-A12BCDDA0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883" y="2116496"/>
            <a:ext cx="4374385" cy="10751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630752-307A-9523-1609-356F3CC6495F}"/>
              </a:ext>
            </a:extLst>
          </p:cNvPr>
          <p:cNvSpPr txBox="1"/>
          <p:nvPr/>
        </p:nvSpPr>
        <p:spPr>
          <a:xfrm>
            <a:off x="4475319" y="1055550"/>
            <a:ext cx="47581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b="1" dirty="0">
                <a:latin typeface="+mn-ea"/>
                <a:ea typeface="+mn-ea"/>
              </a:rPr>
              <a:t>X-MHA(Cross-Modality Multi-Head Attention)</a:t>
            </a:r>
            <a:r>
              <a:rPr lang="ko-KR" altLang="en-US" dirty="0">
                <a:latin typeface="+mn-ea"/>
                <a:ea typeface="+mn-ea"/>
              </a:rPr>
              <a:t>에서 이미지 특징</a:t>
            </a:r>
            <a:r>
              <a:rPr lang="en-US" altLang="ko-KR" dirty="0">
                <a:latin typeface="+mn-ea"/>
                <a:ea typeface="+mn-ea"/>
              </a:rPr>
              <a:t> O</a:t>
            </a:r>
            <a:r>
              <a:rPr lang="ko-KR" altLang="en-US" dirty="0">
                <a:latin typeface="+mn-ea"/>
                <a:ea typeface="+mn-ea"/>
              </a:rPr>
              <a:t>와 텍스트 특징 </a:t>
            </a:r>
            <a:r>
              <a:rPr lang="en-US" altLang="ko-KR" dirty="0">
                <a:latin typeface="+mn-ea"/>
                <a:ea typeface="+mn-ea"/>
              </a:rPr>
              <a:t>P</a:t>
            </a:r>
            <a:r>
              <a:rPr lang="ko-KR" altLang="en-US" dirty="0">
                <a:latin typeface="+mn-ea"/>
                <a:ea typeface="+mn-ea"/>
              </a:rPr>
              <a:t>가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결합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es-ES" altLang="ko-KR" dirty="0">
                <a:latin typeface="+mn-ea"/>
                <a:ea typeface="+mn-ea"/>
              </a:rPr>
              <a:t>cross-modality communication)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55D783-44E5-7A44-2AA0-7956D15BEE5C}"/>
              </a:ext>
            </a:extLst>
          </p:cNvPr>
          <p:cNvSpPr/>
          <p:nvPr/>
        </p:nvSpPr>
        <p:spPr>
          <a:xfrm>
            <a:off x="4475319" y="2170603"/>
            <a:ext cx="4284949" cy="313652"/>
          </a:xfrm>
          <a:prstGeom prst="rect">
            <a:avLst/>
          </a:prstGeom>
          <a:solidFill>
            <a:schemeClr val="accent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03ADCD97-7DEC-3069-B986-C9A524366195}"/>
              </a:ext>
            </a:extLst>
          </p:cNvPr>
          <p:cNvCxnSpPr>
            <a:cxnSpLocks/>
            <a:stCxn id="15" idx="0"/>
            <a:endCxn id="18" idx="2"/>
          </p:cNvCxnSpPr>
          <p:nvPr/>
        </p:nvCxnSpPr>
        <p:spPr>
          <a:xfrm rot="5400000" flipH="1" flipV="1">
            <a:off x="6552586" y="1814704"/>
            <a:ext cx="322282" cy="281302"/>
          </a:xfrm>
          <a:prstGeom prst="bentConnector3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D29BDB2B-FBAB-7572-60E4-77616ABF07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94" t="17920" r="55226" b="3484"/>
          <a:stretch/>
        </p:blipFill>
        <p:spPr>
          <a:xfrm>
            <a:off x="-25660" y="1232751"/>
            <a:ext cx="4374385" cy="29373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F22B22-C2BE-14F3-18D2-85C0CD0B7BDE}"/>
              </a:ext>
            </a:extLst>
          </p:cNvPr>
          <p:cNvSpPr txBox="1"/>
          <p:nvPr/>
        </p:nvSpPr>
        <p:spPr>
          <a:xfrm>
            <a:off x="1353975" y="4214119"/>
            <a:ext cx="3165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deep fusion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인코더의 마지막 층에서 </a:t>
            </a:r>
            <a:r>
              <a:rPr lang="en-US" altLang="ko-KR" sz="1200" dirty="0">
                <a:latin typeface="+mn-ea"/>
                <a:ea typeface="+mn-ea"/>
              </a:rPr>
              <a:t>fusion</a:t>
            </a:r>
            <a:r>
              <a:rPr lang="ko-KR" altLang="en-US" sz="1200" dirty="0">
                <a:latin typeface="+mn-ea"/>
                <a:ea typeface="+mn-ea"/>
              </a:rPr>
              <a:t>을 진행하는 방식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50F8C29-C59E-A483-5587-8DFCDEFE012D}"/>
              </a:ext>
            </a:extLst>
          </p:cNvPr>
          <p:cNvSpPr/>
          <p:nvPr/>
        </p:nvSpPr>
        <p:spPr>
          <a:xfrm>
            <a:off x="2524195" y="2010439"/>
            <a:ext cx="608004" cy="11402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3F20EB4-012D-B7A5-1DE1-6970E20747E8}"/>
              </a:ext>
            </a:extLst>
          </p:cNvPr>
          <p:cNvSpPr/>
          <p:nvPr/>
        </p:nvSpPr>
        <p:spPr>
          <a:xfrm>
            <a:off x="3237370" y="2010439"/>
            <a:ext cx="608004" cy="11402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24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95403C6-79F4-6A30-CFCA-208E93FC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227FC664-1D56-B0BC-4115-F0EDB345987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536594F5-1C1A-9DA6-7FB8-1A243328184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914D2E8-4942-36BE-E1BF-BA2ADED111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C9DFC21B-9394-D6C3-084E-F4B166787FD3}"/>
              </a:ext>
            </a:extLst>
          </p:cNvPr>
          <p:cNvSpPr txBox="1"/>
          <p:nvPr/>
        </p:nvSpPr>
        <p:spPr>
          <a:xfrm>
            <a:off x="1353975" y="241243"/>
            <a:ext cx="363565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Language Aware Deep Fusion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8FDE70C-2C0C-6394-5FEE-F1A1B95DF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883" y="2116496"/>
            <a:ext cx="4374385" cy="107513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B92F798-9492-C96C-D320-68664BD752A2}"/>
              </a:ext>
            </a:extLst>
          </p:cNvPr>
          <p:cNvSpPr txBox="1"/>
          <p:nvPr/>
        </p:nvSpPr>
        <p:spPr>
          <a:xfrm>
            <a:off x="5088186" y="3646911"/>
            <a:ext cx="2969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이미지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텍스트 </a:t>
            </a:r>
            <a:r>
              <a:rPr lang="ko-KR" altLang="en-US" dirty="0" err="1">
                <a:latin typeface="+mn-ea"/>
                <a:ea typeface="+mn-ea"/>
              </a:rPr>
              <a:t>모달리티가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각각 갱신</a:t>
            </a:r>
            <a:r>
              <a:rPr lang="en-US" altLang="ko-KR" dirty="0">
                <a:latin typeface="+mn-ea"/>
                <a:ea typeface="+mn-ea"/>
              </a:rPr>
              <a:t>(single modality fusion)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0FA7BC-6186-76BA-89D7-6A6161575685}"/>
              </a:ext>
            </a:extLst>
          </p:cNvPr>
          <p:cNvSpPr/>
          <p:nvPr/>
        </p:nvSpPr>
        <p:spPr>
          <a:xfrm>
            <a:off x="4475320" y="2497234"/>
            <a:ext cx="4005134" cy="634383"/>
          </a:xfrm>
          <a:prstGeom prst="rect">
            <a:avLst/>
          </a:prstGeom>
          <a:solidFill>
            <a:schemeClr val="accent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545CE840-A116-4598-4FCB-723203B485F0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6345434" y="3419269"/>
            <a:ext cx="455284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B8DD6B-D90A-A9F1-9B5E-5A89685BBC80}"/>
              </a:ext>
            </a:extLst>
          </p:cNvPr>
          <p:cNvSpPr txBox="1"/>
          <p:nvPr/>
        </p:nvSpPr>
        <p:spPr>
          <a:xfrm>
            <a:off x="4475320" y="4394582"/>
            <a:ext cx="24599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>
                <a:solidFill>
                  <a:schemeClr val="bg2"/>
                </a:solidFill>
                <a:latin typeface="+mn-ea"/>
                <a:ea typeface="+mn-ea"/>
              </a:rPr>
              <a:t>DyHeadModule</a:t>
            </a:r>
            <a:r>
              <a:rPr lang="en-U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이미지 인코더</a:t>
            </a:r>
            <a:endParaRPr lang="en-US" altLang="ko-KR" sz="1200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ko-KR" sz="1200" b="1" dirty="0" err="1">
                <a:solidFill>
                  <a:schemeClr val="bg2"/>
                </a:solidFill>
                <a:latin typeface="+mn-ea"/>
                <a:ea typeface="+mn-ea"/>
              </a:rPr>
              <a:t>BERTLayer</a:t>
            </a:r>
            <a:r>
              <a:rPr lang="en-US" altLang="ko-KR" sz="1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chemeClr val="bg2"/>
                </a:solidFill>
                <a:latin typeface="+mn-ea"/>
                <a:ea typeface="+mn-ea"/>
              </a:rPr>
              <a:t>텍스트 인코더</a:t>
            </a:r>
            <a:endParaRPr lang="en-US" altLang="ko-KR" sz="1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9CB93A4-D669-6409-471D-8A86E30A13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94" t="17920" r="55226" b="3484"/>
          <a:stretch/>
        </p:blipFill>
        <p:spPr>
          <a:xfrm>
            <a:off x="-25660" y="1232751"/>
            <a:ext cx="4374385" cy="293738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15ED378-7525-8747-D4D2-6CE8A25A991F}"/>
              </a:ext>
            </a:extLst>
          </p:cNvPr>
          <p:cNvSpPr/>
          <p:nvPr/>
        </p:nvSpPr>
        <p:spPr>
          <a:xfrm>
            <a:off x="105196" y="1582311"/>
            <a:ext cx="4243530" cy="6028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B38CB4D-2804-7405-ED3F-1372F9FFD0D7}"/>
              </a:ext>
            </a:extLst>
          </p:cNvPr>
          <p:cNvSpPr/>
          <p:nvPr/>
        </p:nvSpPr>
        <p:spPr>
          <a:xfrm>
            <a:off x="-12836" y="3059261"/>
            <a:ext cx="4374384" cy="6028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33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5CEAE59-538B-2A76-84F5-E614073B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B58FA62-1F88-B549-980A-38D2593480D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1D2BDBB-1FB9-7838-A9DA-A229CB4596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818721C2-5899-6664-0D10-96866162A5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4A01D4DF-CA10-BD4B-3770-8057C257CC90}"/>
              </a:ext>
            </a:extLst>
          </p:cNvPr>
          <p:cNvSpPr txBox="1"/>
          <p:nvPr/>
        </p:nvSpPr>
        <p:spPr>
          <a:xfrm>
            <a:off x="1353975" y="241243"/>
            <a:ext cx="363565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Language Aware Deep Fusion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F9200-C45E-AF72-AA52-ED724204D84A}"/>
              </a:ext>
            </a:extLst>
          </p:cNvPr>
          <p:cNvSpPr txBox="1"/>
          <p:nvPr/>
        </p:nvSpPr>
        <p:spPr>
          <a:xfrm>
            <a:off x="1377079" y="3181323"/>
            <a:ext cx="4374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self attention</a:t>
            </a:r>
            <a:r>
              <a:rPr lang="en-US" altLang="ko-KR" dirty="0">
                <a:latin typeface="+mn-ea"/>
                <a:ea typeface="+mn-ea"/>
              </a:rPr>
              <a:t>:</a:t>
            </a:r>
            <a:r>
              <a:rPr lang="ko-KR" altLang="en-US" dirty="0">
                <a:latin typeface="+mn-ea"/>
                <a:ea typeface="+mn-ea"/>
              </a:rPr>
              <a:t> 쿼리 </a:t>
            </a:r>
            <a:r>
              <a:rPr lang="en-US" altLang="ko-KR" dirty="0">
                <a:latin typeface="+mn-ea"/>
                <a:ea typeface="+mn-ea"/>
              </a:rPr>
              <a:t>(query), </a:t>
            </a:r>
            <a:r>
              <a:rPr lang="ko-KR" altLang="en-US" dirty="0">
                <a:latin typeface="+mn-ea"/>
                <a:ea typeface="+mn-ea"/>
              </a:rPr>
              <a:t>키 </a:t>
            </a:r>
            <a:r>
              <a:rPr lang="en-US" altLang="ko-KR" dirty="0">
                <a:latin typeface="+mn-ea"/>
                <a:ea typeface="+mn-ea"/>
              </a:rPr>
              <a:t>(key), </a:t>
            </a:r>
            <a:r>
              <a:rPr lang="ko-KR" altLang="en-US" dirty="0" err="1">
                <a:latin typeface="+mn-ea"/>
                <a:ea typeface="+mn-ea"/>
              </a:rPr>
              <a:t>밸류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(value)</a:t>
            </a:r>
          </a:p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ko-KR" altLang="en-US" dirty="0">
                <a:latin typeface="+mn-ea"/>
                <a:ea typeface="+mn-ea"/>
              </a:rPr>
              <a:t>개 요소 사이의 문맥적 관계성을 추출하는 과정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3B25C25-C091-208C-DD64-A782F6561C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02" t="-1" r="9203" b="82124"/>
          <a:stretch/>
        </p:blipFill>
        <p:spPr>
          <a:xfrm>
            <a:off x="1948288" y="2457114"/>
            <a:ext cx="3196354" cy="6550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564DB07-2B0A-0C1C-9EB6-B28280B75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079" y="1368463"/>
            <a:ext cx="4462984" cy="8779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58645F-FFF3-BCB2-1AE1-CF625F535C07}"/>
              </a:ext>
            </a:extLst>
          </p:cNvPr>
          <p:cNvSpPr txBox="1"/>
          <p:nvPr/>
        </p:nvSpPr>
        <p:spPr>
          <a:xfrm>
            <a:off x="1353975" y="866393"/>
            <a:ext cx="5192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b="1" dirty="0">
                <a:latin typeface="+mn-ea"/>
                <a:ea typeface="+mn-ea"/>
              </a:rPr>
              <a:t>&lt;X-MHA(Cross-Modality Multi-Head Attention)</a:t>
            </a:r>
            <a:r>
              <a:rPr lang="ko-KR" altLang="en-US" b="1" dirty="0">
                <a:latin typeface="+mn-ea"/>
                <a:ea typeface="+mn-ea"/>
              </a:rPr>
              <a:t>의 구조</a:t>
            </a:r>
            <a:r>
              <a:rPr lang="en-US" altLang="ko-KR" b="1" dirty="0">
                <a:latin typeface="+mn-ea"/>
                <a:ea typeface="+mn-ea"/>
              </a:rPr>
              <a:t>&gt;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A9A1822-76D7-E749-51B9-A961EA4EBB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7" t="23308" r="5228"/>
          <a:stretch/>
        </p:blipFill>
        <p:spPr>
          <a:xfrm>
            <a:off x="5911855" y="1404938"/>
            <a:ext cx="3232145" cy="2600868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ADF83CF-B015-D4D7-CFB1-1F72A47479E6}"/>
              </a:ext>
            </a:extLst>
          </p:cNvPr>
          <p:cNvSpPr/>
          <p:nvPr/>
        </p:nvSpPr>
        <p:spPr>
          <a:xfrm>
            <a:off x="1592370" y="3985031"/>
            <a:ext cx="631179" cy="30749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62D0C-DEE2-9D8F-FEA5-41108FE28325}"/>
              </a:ext>
            </a:extLst>
          </p:cNvPr>
          <p:cNvSpPr txBox="1"/>
          <p:nvPr/>
        </p:nvSpPr>
        <p:spPr>
          <a:xfrm>
            <a:off x="2239061" y="3877170"/>
            <a:ext cx="4374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이미지 특징 기준 쿼리와 텍스트 특징의 키를 비교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텍스트 특징 기준 쿼리와 이미지 특징의 키를 비교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3EADCAFA-1318-6497-4137-E13152639385}"/>
              </a:ext>
            </a:extLst>
          </p:cNvPr>
          <p:cNvSpPr/>
          <p:nvPr/>
        </p:nvSpPr>
        <p:spPr>
          <a:xfrm>
            <a:off x="2013156" y="4491936"/>
            <a:ext cx="631179" cy="30749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6285887-5E76-E98C-0253-5697144EC330}"/>
              </a:ext>
            </a:extLst>
          </p:cNvPr>
          <p:cNvGrpSpPr/>
          <p:nvPr/>
        </p:nvGrpSpPr>
        <p:grpSpPr>
          <a:xfrm>
            <a:off x="2747684" y="4491656"/>
            <a:ext cx="4374564" cy="307777"/>
            <a:chOff x="2067954" y="4661589"/>
            <a:chExt cx="4374564" cy="30777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6C2BEB-2506-5008-3C40-D7CB11B55B85}"/>
                </a:ext>
              </a:extLst>
            </p:cNvPr>
            <p:cNvSpPr txBox="1"/>
            <p:nvPr/>
          </p:nvSpPr>
          <p:spPr>
            <a:xfrm>
              <a:off x="2067954" y="4661589"/>
              <a:ext cx="43745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latin typeface="+mn-ea"/>
                  <a:ea typeface="+mn-ea"/>
                </a:rPr>
                <a:t>이미지</a:t>
              </a:r>
              <a:r>
                <a:rPr lang="en-US" altLang="ko-KR" b="1" dirty="0">
                  <a:latin typeface="+mn-ea"/>
                  <a:ea typeface="+mn-ea"/>
                </a:rPr>
                <a:t>-</a:t>
              </a:r>
              <a:r>
                <a:rPr lang="ko-KR" altLang="en-US" b="1" dirty="0">
                  <a:latin typeface="+mn-ea"/>
                  <a:ea typeface="+mn-ea"/>
                </a:rPr>
                <a:t>텍스트 상호작용 벡터             </a:t>
              </a:r>
              <a:r>
                <a:rPr lang="ko-KR" altLang="en-US" dirty="0">
                  <a:latin typeface="+mn-ea"/>
                  <a:ea typeface="+mn-ea"/>
                </a:rPr>
                <a:t>생성</a:t>
              </a:r>
              <a:endParaRPr lang="en-US" altLang="ko-KR" dirty="0">
                <a:latin typeface="+mn-ea"/>
                <a:ea typeface="+mn-ea"/>
              </a:endParaRP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6AD39F8-1197-C655-93C1-3DC0D6020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935" y="4691645"/>
              <a:ext cx="660434" cy="247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2173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43FFF34-6E21-503F-ABE9-FDA31F0C3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35D3EA0-B185-ABCA-D156-9B3891E49EF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60883C3-27CA-B6BC-66AF-693711FEB07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F9656478-5F84-948E-7919-3D4C5851A6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0412DAFB-2B99-AFF5-7B8F-F351241FA7B5}"/>
              </a:ext>
            </a:extLst>
          </p:cNvPr>
          <p:cNvSpPr txBox="1"/>
          <p:nvPr/>
        </p:nvSpPr>
        <p:spPr>
          <a:xfrm>
            <a:off x="1353975" y="241243"/>
            <a:ext cx="52596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Pre-training with Scalable Semantic-Rich Data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9087795-823B-78E3-C7EE-324E82DCB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0356"/>
              </p:ext>
            </p:extLst>
          </p:nvPr>
        </p:nvGraphicFramePr>
        <p:xfrm>
          <a:off x="2213749" y="75962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802847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69293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grounding 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detection data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4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카테고리</a:t>
                      </a:r>
                      <a:r>
                        <a:rPr lang="en-US" altLang="ko-KR" dirty="0"/>
                        <a:t> 44,000~110,000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카테고리 </a:t>
                      </a:r>
                      <a:r>
                        <a:rPr lang="en-US" altLang="ko-KR" dirty="0"/>
                        <a:t>2000</a:t>
                      </a:r>
                      <a:r>
                        <a:rPr lang="ko-KR" altLang="en-US" dirty="0"/>
                        <a:t>개 미만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365134"/>
                  </a:ext>
                </a:extLst>
              </a:tr>
            </a:tbl>
          </a:graphicData>
        </a:graphic>
      </p:graphicFrame>
      <p:pic>
        <p:nvPicPr>
          <p:cNvPr id="1026" name="Picture 2" descr="GLIGEN: Open-Set Grounded Text-to-Image Generation">
            <a:extLst>
              <a:ext uri="{FF2B5EF4-FFF2-40B4-BE49-F238E27FC236}">
                <a16:creationId xmlns:a16="http://schemas.microsoft.com/office/drawing/2014/main" id="{FA480436-AF3D-912C-4D74-C9324D24D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51"/>
          <a:stretch/>
        </p:blipFill>
        <p:spPr bwMode="auto">
          <a:xfrm>
            <a:off x="2332980" y="1576901"/>
            <a:ext cx="2781186" cy="249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GLIGEN: Open-Set Grounded Text-to-Image Generation">
            <a:extLst>
              <a:ext uri="{FF2B5EF4-FFF2-40B4-BE49-F238E27FC236}">
                <a16:creationId xmlns:a16="http://schemas.microsoft.com/office/drawing/2014/main" id="{93DF51F2-562C-245F-5C7C-C6A3AF3DF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7" r="28983"/>
          <a:stretch/>
        </p:blipFill>
        <p:spPr bwMode="auto">
          <a:xfrm>
            <a:off x="5803543" y="1576901"/>
            <a:ext cx="1762511" cy="250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4F53B7-C3D5-5EFE-3CE0-6929DF3FC543}"/>
              </a:ext>
            </a:extLst>
          </p:cNvPr>
          <p:cNvSpPr txBox="1"/>
          <p:nvPr/>
        </p:nvSpPr>
        <p:spPr>
          <a:xfrm>
            <a:off x="1701932" y="4155670"/>
            <a:ext cx="61832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dirty="0">
                <a:latin typeface="+mn-ea"/>
                <a:ea typeface="+mn-ea"/>
              </a:rPr>
              <a:t>- GLIP</a:t>
            </a:r>
            <a:r>
              <a:rPr lang="ko-KR" altLang="en-US" dirty="0">
                <a:latin typeface="+mn-ea"/>
                <a:ea typeface="+mn-ea"/>
              </a:rPr>
              <a:t>은 </a:t>
            </a:r>
            <a:r>
              <a:rPr lang="es-ES" altLang="ko-KR" dirty="0">
                <a:latin typeface="+mn-ea"/>
                <a:ea typeface="+mn-ea"/>
              </a:rPr>
              <a:t>detection data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s-ES" altLang="ko-KR" dirty="0">
                <a:latin typeface="+mn-ea"/>
                <a:ea typeface="+mn-ea"/>
              </a:rPr>
              <a:t>grounding data </a:t>
            </a:r>
            <a:r>
              <a:rPr lang="ko-KR" altLang="en-US" dirty="0">
                <a:latin typeface="+mn-ea"/>
                <a:ea typeface="+mn-ea"/>
              </a:rPr>
              <a:t>모두 학습이 가능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  <a:p>
            <a:r>
              <a:rPr lang="es-ES" altLang="ko-KR" dirty="0">
                <a:latin typeface="+mn-ea"/>
                <a:ea typeface="+mn-ea"/>
              </a:rPr>
              <a:t>- grounding data</a:t>
            </a:r>
            <a:r>
              <a:rPr lang="ko-KR" altLang="en-US" dirty="0">
                <a:latin typeface="+mn-ea"/>
                <a:ea typeface="+mn-ea"/>
              </a:rPr>
              <a:t>를 통해 풍부한 의미 학습이 가능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6544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74B1E64-AE38-11A3-7FE0-3CC188CA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E80E714-979C-F9E5-2C7D-05FF119F9B7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27EFD2F-94B9-410C-B810-7C3DDCD108D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B9E12CFB-345A-B9F6-B5B6-B888E07A64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3F74E4F5-DAAA-8413-3798-C4ED318590AA}"/>
              </a:ext>
            </a:extLst>
          </p:cNvPr>
          <p:cNvSpPr txBox="1"/>
          <p:nvPr/>
        </p:nvSpPr>
        <p:spPr>
          <a:xfrm>
            <a:off x="1353975" y="241243"/>
            <a:ext cx="52596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Pre-training with Scalable Semantic-Rich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A19C68-2206-E507-6DD4-C877FF8E62CB}"/>
              </a:ext>
            </a:extLst>
          </p:cNvPr>
          <p:cNvSpPr txBox="1"/>
          <p:nvPr/>
        </p:nvSpPr>
        <p:spPr>
          <a:xfrm>
            <a:off x="1902732" y="3912102"/>
            <a:ext cx="61832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수작업 </a:t>
            </a:r>
            <a:r>
              <a:rPr lang="ko-KR" altLang="en-US" dirty="0" err="1">
                <a:latin typeface="+mn-ea"/>
                <a:ea typeface="+mn-ea"/>
              </a:rPr>
              <a:t>라벨링된</a:t>
            </a:r>
            <a:r>
              <a:rPr lang="en-US" altLang="ko-KR" dirty="0">
                <a:latin typeface="+mn-ea"/>
                <a:ea typeface="+mn-ea"/>
              </a:rPr>
              <a:t>(gold) grounding data</a:t>
            </a:r>
            <a:r>
              <a:rPr lang="ko-KR" altLang="en-US" dirty="0">
                <a:latin typeface="+mn-ea"/>
                <a:ea typeface="+mn-ea"/>
              </a:rPr>
              <a:t>로 </a:t>
            </a:r>
            <a:r>
              <a:rPr lang="en-US" altLang="ko-KR" dirty="0">
                <a:latin typeface="+mn-ea"/>
                <a:ea typeface="+mn-ea"/>
              </a:rPr>
              <a:t>teacher GLIP </a:t>
            </a:r>
            <a:r>
              <a:rPr lang="ko-KR" altLang="en-US" dirty="0">
                <a:latin typeface="+mn-ea"/>
                <a:ea typeface="+mn-ea"/>
              </a:rPr>
              <a:t>모델 학습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2. teacher GLIP </a:t>
            </a:r>
            <a:r>
              <a:rPr lang="ko-KR" altLang="en-US" dirty="0">
                <a:latin typeface="+mn-ea"/>
                <a:ea typeface="+mn-ea"/>
              </a:rPr>
              <a:t>모델과 </a:t>
            </a:r>
            <a:r>
              <a:rPr lang="en-US" altLang="ko-KR" dirty="0">
                <a:latin typeface="+mn-ea"/>
                <a:ea typeface="+mn-ea"/>
              </a:rPr>
              <a:t>NLP parser</a:t>
            </a:r>
            <a:r>
              <a:rPr lang="ko-KR" altLang="en-US" dirty="0">
                <a:latin typeface="+mn-ea"/>
                <a:ea typeface="+mn-ea"/>
              </a:rPr>
              <a:t>를 활용해서 </a:t>
            </a:r>
            <a:r>
              <a:rPr lang="ko-KR" altLang="en-US" dirty="0" err="1">
                <a:latin typeface="+mn-ea"/>
                <a:ea typeface="+mn-ea"/>
              </a:rPr>
              <a:t>웹크롤링</a:t>
            </a:r>
            <a:r>
              <a:rPr lang="ko-KR" altLang="en-US" dirty="0">
                <a:latin typeface="+mn-ea"/>
                <a:ea typeface="+mn-ea"/>
              </a:rPr>
              <a:t> 데이터를 </a:t>
            </a:r>
            <a:r>
              <a:rPr lang="ko-KR" altLang="en-US" dirty="0" err="1">
                <a:latin typeface="+mn-ea"/>
                <a:ea typeface="+mn-ea"/>
              </a:rPr>
              <a:t>라벨링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모든 데이터를 이용해서 </a:t>
            </a:r>
            <a:r>
              <a:rPr lang="en-US" altLang="ko-KR" dirty="0">
                <a:latin typeface="+mn-ea"/>
                <a:ea typeface="+mn-ea"/>
              </a:rPr>
              <a:t>student GLIP </a:t>
            </a:r>
            <a:r>
              <a:rPr lang="ko-KR" altLang="en-US" dirty="0">
                <a:latin typeface="+mn-ea"/>
                <a:ea typeface="+mn-ea"/>
              </a:rPr>
              <a:t>을 학습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19F298-C9CB-2668-CECF-E8B7DC74E319}"/>
              </a:ext>
            </a:extLst>
          </p:cNvPr>
          <p:cNvSpPr/>
          <p:nvPr/>
        </p:nvSpPr>
        <p:spPr>
          <a:xfrm>
            <a:off x="3983799" y="1216477"/>
            <a:ext cx="1359461" cy="5847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Teacher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DC3BD91-50B9-14A8-961C-4117E5F37EA5}"/>
              </a:ext>
            </a:extLst>
          </p:cNvPr>
          <p:cNvSpPr/>
          <p:nvPr/>
        </p:nvSpPr>
        <p:spPr>
          <a:xfrm>
            <a:off x="1902732" y="1216478"/>
            <a:ext cx="1359461" cy="58477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gold</a:t>
            </a:r>
          </a:p>
          <a:p>
            <a:pPr algn="ctr"/>
            <a:r>
              <a:rPr lang="en-US" altLang="ko-KR" sz="1200" b="1" dirty="0"/>
              <a:t>grounding data</a:t>
            </a:r>
            <a:endParaRPr lang="ko-KR" altLang="en-US" sz="1200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3976E-6115-C98F-95E0-4CC7C11692C2}"/>
              </a:ext>
            </a:extLst>
          </p:cNvPr>
          <p:cNvSpPr/>
          <p:nvPr/>
        </p:nvSpPr>
        <p:spPr>
          <a:xfrm>
            <a:off x="3983800" y="2045325"/>
            <a:ext cx="1359461" cy="58477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web-crawling data</a:t>
            </a:r>
            <a:endParaRPr lang="ko-KR" altLang="en-US" sz="1200" b="1" dirty="0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B8EC57F-7746-2546-B7A7-56823464DC2B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3262193" y="1508865"/>
            <a:ext cx="721606" cy="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7C6563CA-6E0D-9093-7DFA-5ED30761EE21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rot="16200000" flipV="1">
            <a:off x="4541495" y="1923288"/>
            <a:ext cx="244073" cy="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6102C2F-3D68-086A-5185-179C1B6595E4}"/>
              </a:ext>
            </a:extLst>
          </p:cNvPr>
          <p:cNvSpPr/>
          <p:nvPr/>
        </p:nvSpPr>
        <p:spPr>
          <a:xfrm>
            <a:off x="6022992" y="2988068"/>
            <a:ext cx="1359461" cy="58477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Student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576BE232-6CCB-1395-957F-C5423925DD0D}"/>
              </a:ext>
            </a:extLst>
          </p:cNvPr>
          <p:cNvCxnSpPr>
            <a:cxnSpLocks/>
            <a:stCxn id="8" idx="2"/>
            <a:endCxn id="27" idx="1"/>
          </p:cNvCxnSpPr>
          <p:nvPr/>
        </p:nvCxnSpPr>
        <p:spPr>
          <a:xfrm rot="16200000" flipH="1">
            <a:off x="3563126" y="820589"/>
            <a:ext cx="1479203" cy="344052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B44ED55-C440-4169-4C56-D31F572CD455}"/>
              </a:ext>
            </a:extLst>
          </p:cNvPr>
          <p:cNvSpPr/>
          <p:nvPr/>
        </p:nvSpPr>
        <p:spPr>
          <a:xfrm>
            <a:off x="6022991" y="2081936"/>
            <a:ext cx="1359461" cy="58477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labeled data</a:t>
            </a:r>
            <a:endParaRPr lang="ko-KR" altLang="en-US" sz="1200" b="1" dirty="0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0F640929-FF1C-7189-4F0C-A2C33604ECC2}"/>
              </a:ext>
            </a:extLst>
          </p:cNvPr>
          <p:cNvCxnSpPr>
            <a:cxnSpLocks/>
            <a:stCxn id="7" idx="3"/>
            <a:endCxn id="36" idx="1"/>
          </p:cNvCxnSpPr>
          <p:nvPr/>
        </p:nvCxnSpPr>
        <p:spPr>
          <a:xfrm>
            <a:off x="5343260" y="1508865"/>
            <a:ext cx="679731" cy="86545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0EEE48B2-9CD3-6952-C6B6-DAF56E06EDEF}"/>
              </a:ext>
            </a:extLst>
          </p:cNvPr>
          <p:cNvCxnSpPr>
            <a:cxnSpLocks/>
            <a:stCxn id="36" idx="2"/>
            <a:endCxn id="27" idx="0"/>
          </p:cNvCxnSpPr>
          <p:nvPr/>
        </p:nvCxnSpPr>
        <p:spPr>
          <a:xfrm rot="16200000" flipH="1">
            <a:off x="6542044" y="2827388"/>
            <a:ext cx="321357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Google Shape;75;p15">
            <a:extLst>
              <a:ext uri="{FF2B5EF4-FFF2-40B4-BE49-F238E27FC236}">
                <a16:creationId xmlns:a16="http://schemas.microsoft.com/office/drawing/2014/main" id="{E6007354-8D49-DD21-0DA7-F8EBC5BF80FD}"/>
              </a:ext>
            </a:extLst>
          </p:cNvPr>
          <p:cNvSpPr txBox="1"/>
          <p:nvPr/>
        </p:nvSpPr>
        <p:spPr>
          <a:xfrm>
            <a:off x="1802937" y="689966"/>
            <a:ext cx="375629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latin typeface="+mj-ea"/>
                <a:ea typeface="+mj-ea"/>
              </a:rPr>
              <a:t>&lt;ground data scaling by Self-training&gt;</a:t>
            </a:r>
          </a:p>
        </p:txBody>
      </p:sp>
    </p:spTree>
    <p:extLst>
      <p:ext uri="{BB962C8B-B14F-4D97-AF65-F5344CB8AC3E}">
        <p14:creationId xmlns:p14="http://schemas.microsoft.com/office/powerpoint/2010/main" val="2751956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0E73CCB-A2F8-4370-7A20-938917F48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863DF37-FA8B-7570-2BE7-D6C55F787E4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CFCFF5D-8E58-A786-2FD0-8AC678DC4FF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E63B114A-00EB-B672-2BB2-D5E20343EB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BC82B1E0-7B19-41D3-94C9-3862CA36C977}"/>
              </a:ext>
            </a:extLst>
          </p:cNvPr>
          <p:cNvSpPr txBox="1"/>
          <p:nvPr/>
        </p:nvSpPr>
        <p:spPr>
          <a:xfrm>
            <a:off x="1353975" y="241243"/>
            <a:ext cx="52596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+mj-ea"/>
                <a:ea typeface="+mj-ea"/>
              </a:rPr>
              <a:t>- Pre-training with Scalable Semantic-Rich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453323-EE24-20B0-50B4-EA5088B5F17B}"/>
              </a:ext>
            </a:extLst>
          </p:cNvPr>
          <p:cNvSpPr txBox="1"/>
          <p:nvPr/>
        </p:nvSpPr>
        <p:spPr>
          <a:xfrm>
            <a:off x="1902732" y="3732706"/>
            <a:ext cx="71846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dirty="0">
                <a:latin typeface="+mn-ea"/>
                <a:ea typeface="+mn-ea"/>
              </a:rPr>
              <a:t>- MS-COCO </a:t>
            </a:r>
            <a:r>
              <a:rPr lang="ko-KR" altLang="en-US" dirty="0">
                <a:latin typeface="+mn-ea"/>
                <a:ea typeface="+mn-ea"/>
              </a:rPr>
              <a:t>데이터셋 실험을 통해</a:t>
            </a:r>
            <a:r>
              <a:rPr lang="en-US" altLang="ko-KR" dirty="0">
                <a:latin typeface="+mn-ea"/>
                <a:ea typeface="+mn-ea"/>
              </a:rPr>
              <a:t>, zero-shot</a:t>
            </a:r>
            <a:r>
              <a:rPr lang="ko-KR" altLang="en-US" dirty="0">
                <a:latin typeface="+mn-ea"/>
                <a:ea typeface="+mn-ea"/>
              </a:rPr>
              <a:t> 도메인의 </a:t>
            </a:r>
            <a:r>
              <a:rPr lang="en-US" altLang="ko-KR" dirty="0">
                <a:latin typeface="+mn-ea"/>
                <a:ea typeface="+mn-ea"/>
              </a:rPr>
              <a:t>supervised </a:t>
            </a:r>
            <a:r>
              <a:rPr lang="es-ES" altLang="ko-KR" dirty="0">
                <a:latin typeface="+mn-ea"/>
                <a:ea typeface="+mn-ea"/>
              </a:rPr>
              <a:t>transfer ability</a:t>
            </a:r>
            <a:r>
              <a:rPr lang="ko-KR" altLang="en-US" dirty="0" err="1">
                <a:latin typeface="+mn-ea"/>
                <a:ea typeface="+mn-ea"/>
              </a:rPr>
              <a:t>를</a:t>
            </a:r>
            <a:r>
              <a:rPr lang="ko-KR" altLang="en-US" dirty="0">
                <a:latin typeface="+mn-ea"/>
                <a:ea typeface="+mn-ea"/>
              </a:rPr>
              <a:t> 확인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  <a:p>
            <a:r>
              <a:rPr lang="es-ES" altLang="ko-KR" dirty="0">
                <a:latin typeface="+mn-ea"/>
                <a:ea typeface="+mn-ea"/>
              </a:rPr>
              <a:t>- zero-shot GLIP</a:t>
            </a:r>
            <a:r>
              <a:rPr lang="ko-KR" altLang="en-US" dirty="0">
                <a:latin typeface="+mn-ea"/>
                <a:ea typeface="+mn-ea"/>
              </a:rPr>
              <a:t>은 </a:t>
            </a:r>
            <a:r>
              <a:rPr lang="es-ES" altLang="ko-KR" dirty="0">
                <a:latin typeface="+mn-ea"/>
                <a:ea typeface="+mn-ea"/>
              </a:rPr>
              <a:t>supervised models</a:t>
            </a:r>
            <a:r>
              <a:rPr lang="ko-KR" altLang="en-US" dirty="0">
                <a:latin typeface="+mn-ea"/>
                <a:ea typeface="+mn-ea"/>
              </a:rPr>
              <a:t>와 대등하거나 능가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  <a:p>
            <a:r>
              <a:rPr lang="en-US" altLang="ko-KR" dirty="0">
                <a:latin typeface="+mn-ea"/>
                <a:ea typeface="+mn-ea"/>
              </a:rPr>
              <a:t>- fine-tune </a:t>
            </a:r>
            <a:r>
              <a:rPr lang="es-ES" altLang="ko-KR" dirty="0">
                <a:latin typeface="+mn-ea"/>
                <a:ea typeface="+mn-ea"/>
              </a:rPr>
              <a:t>GLIP-L</a:t>
            </a:r>
            <a:r>
              <a:rPr lang="ko-KR" altLang="en-US" dirty="0">
                <a:latin typeface="+mn-ea"/>
                <a:ea typeface="+mn-ea"/>
              </a:rPr>
              <a:t>의 경우</a:t>
            </a:r>
            <a:r>
              <a:rPr lang="en-US" altLang="ko-KR" dirty="0">
                <a:latin typeface="+mn-ea"/>
                <a:ea typeface="+mn-ea"/>
              </a:rPr>
              <a:t>, MS-COCO </a:t>
            </a:r>
            <a:r>
              <a:rPr lang="ko-KR" altLang="en-US" dirty="0">
                <a:latin typeface="+mn-ea"/>
                <a:ea typeface="+mn-ea"/>
              </a:rPr>
              <a:t>데이터셋에서 </a:t>
            </a:r>
            <a:r>
              <a:rPr lang="es-ES" altLang="ko-KR" dirty="0">
                <a:latin typeface="+mn-ea"/>
                <a:ea typeface="+mn-ea"/>
              </a:rPr>
              <a:t>SOTA </a:t>
            </a:r>
            <a:r>
              <a:rPr lang="ko-KR" altLang="en-US" dirty="0">
                <a:latin typeface="+mn-ea"/>
                <a:ea typeface="+mn-ea"/>
              </a:rPr>
              <a:t>달성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👉 </a:t>
            </a:r>
            <a:r>
              <a:rPr lang="en-US" altLang="ko-KR" dirty="0">
                <a:latin typeface="+mn-ea"/>
                <a:ea typeface="+mn-ea"/>
              </a:rPr>
              <a:t>deep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fusion </a:t>
            </a:r>
            <a:r>
              <a:rPr lang="ko-KR" altLang="en-US" dirty="0">
                <a:latin typeface="+mn-ea"/>
                <a:ea typeface="+mn-ea"/>
              </a:rPr>
              <a:t>방식</a:t>
            </a:r>
            <a:r>
              <a:rPr lang="en-US" altLang="ko-KR" dirty="0">
                <a:latin typeface="+mn-ea"/>
                <a:ea typeface="+mn-ea"/>
              </a:rPr>
              <a:t>,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grounding data </a:t>
            </a:r>
            <a:r>
              <a:rPr lang="ko-KR" altLang="en-US" dirty="0">
                <a:latin typeface="+mn-ea"/>
                <a:ea typeface="+mn-ea"/>
              </a:rPr>
              <a:t>학습의 효율성으로 볼 수 있을 것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</p:txBody>
      </p:sp>
      <p:sp>
        <p:nvSpPr>
          <p:cNvPr id="62" name="Google Shape;75;p15">
            <a:extLst>
              <a:ext uri="{FF2B5EF4-FFF2-40B4-BE49-F238E27FC236}">
                <a16:creationId xmlns:a16="http://schemas.microsoft.com/office/drawing/2014/main" id="{44B3DF03-6C26-D223-C262-1F0663CF033D}"/>
              </a:ext>
            </a:extLst>
          </p:cNvPr>
          <p:cNvSpPr txBox="1"/>
          <p:nvPr/>
        </p:nvSpPr>
        <p:spPr>
          <a:xfrm>
            <a:off x="1802937" y="689966"/>
            <a:ext cx="375629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latin typeface="+mj-ea"/>
                <a:ea typeface="+mj-ea"/>
              </a:rPr>
              <a:t>&lt;ground data scaling by Self-training&gt;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3C5DC69-9E9F-5492-BCA0-1A5F60683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8" y="1107911"/>
            <a:ext cx="4502313" cy="25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20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80455657-0C10-776D-48E5-64135E70D004}"/>
              </a:ext>
            </a:extLst>
          </p:cNvPr>
          <p:cNvSpPr txBox="1"/>
          <p:nvPr/>
        </p:nvSpPr>
        <p:spPr>
          <a:xfrm>
            <a:off x="1993079" y="2340932"/>
            <a:ext cx="327336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dirty="0">
                <a:latin typeface="+mj-ea"/>
                <a:ea typeface="+mj-ea"/>
              </a:rPr>
              <a:t>이상입니다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7AE82D84-8483-4638-175E-B34197DF8C25}"/>
              </a:ext>
            </a:extLst>
          </p:cNvPr>
          <p:cNvSpPr txBox="1"/>
          <p:nvPr/>
        </p:nvSpPr>
        <p:spPr>
          <a:xfrm>
            <a:off x="1181088" y="4774198"/>
            <a:ext cx="327336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latin typeface="+mj-ea"/>
                <a:ea typeface="+mj-ea"/>
              </a:rPr>
              <a:t>ppt </a:t>
            </a:r>
            <a:r>
              <a:rPr lang="ko-KR" altLang="en-US" sz="1100" dirty="0">
                <a:latin typeface="+mj-ea"/>
                <a:ea typeface="+mj-ea"/>
              </a:rPr>
              <a:t>제작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b="1" dirty="0">
                <a:latin typeface="+mj-ea"/>
                <a:ea typeface="+mj-ea"/>
              </a:rPr>
              <a:t>문주일</a:t>
            </a:r>
            <a:endParaRPr lang="en-US" altLang="ko-KR" sz="1100" b="1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1F7E88-7F44-39E2-ADC6-23817BB85A58}"/>
              </a:ext>
            </a:extLst>
          </p:cNvPr>
          <p:cNvSpPr/>
          <p:nvPr/>
        </p:nvSpPr>
        <p:spPr>
          <a:xfrm>
            <a:off x="2357625" y="89450"/>
            <a:ext cx="2176757" cy="2108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28266D-2B18-E320-6C83-48002D27EF1F}"/>
              </a:ext>
            </a:extLst>
          </p:cNvPr>
          <p:cNvSpPr/>
          <p:nvPr/>
        </p:nvSpPr>
        <p:spPr>
          <a:xfrm>
            <a:off x="3760021" y="193262"/>
            <a:ext cx="2108829" cy="83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965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614</Words>
  <Application>Microsoft Office PowerPoint</Application>
  <PresentationFormat>화면 슬라이드 쇼(16:9)</PresentationFormat>
  <Paragraphs>105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나눔고딕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Juil Moon</cp:lastModifiedBy>
  <cp:revision>191</cp:revision>
  <dcterms:modified xsi:type="dcterms:W3CDTF">2024-11-05T03:15:10Z</dcterms:modified>
</cp:coreProperties>
</file>